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526852"/>
            <a:ext cx="762000" cy="9525"/>
          </a:xfrm>
          <a:prstGeom prst="rect">
            <a:avLst/>
          </a:prstGeom>
          <a:solidFill>
            <a:srgbClr val="6B53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55550" y="1012627"/>
            <a:ext cx="26329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900" dirty="0">
                <a:solidFill>
                  <a:srgbClr val="7D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JUNG SUN-YOUNG · 정선영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27932" y="1515517"/>
            <a:ext cx="108813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spcAft>
                <a:spcPts val="600"/>
              </a:spcAft>
              <a:buNone/>
            </a:pPr>
            <a:r>
              <a:rPr lang="en-US" sz="3900" dirty="0">
                <a:solidFill>
                  <a:srgbClr val="3D3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器道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4171237" y="2277517"/>
            <a:ext cx="8013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Vase Series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937458" y="2784128"/>
            <a:ext cx="126893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2625"/>
              </a:spcAft>
              <a:buNone/>
            </a:pPr>
            <a:r>
              <a:rPr lang="en-US" sz="1050" i="1" dirty="0">
                <a:solidFill>
                  <a:srgbClr val="7D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Elevating the Everyday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81500" y="3456533"/>
            <a:ext cx="381000" cy="9525"/>
          </a:xfrm>
          <a:prstGeom prst="rect">
            <a:avLst/>
          </a:prstGeom>
          <a:solidFill>
            <a:srgbClr val="C4B8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64365" y="3894683"/>
            <a:ext cx="101527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7D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일상의 화병을 예술로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191000" y="4607123"/>
            <a:ext cx="762000" cy="9525"/>
          </a:xfrm>
          <a:prstGeom prst="rect">
            <a:avLst/>
          </a:prstGeom>
          <a:solidFill>
            <a:srgbClr val="6B53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0025" y="4781550"/>
            <a:ext cx="8743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A09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KWANHOON ARTE · 火陶 · 1,280°C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656927"/>
            <a:ext cx="79667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750" dirty="0">
                <a:solidFill>
                  <a:srgbClr val="7D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· 콘셉트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66750" y="1085552"/>
            <a:ext cx="399307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7"/>
              </a:lnSpc>
              <a:spcAft>
                <a:spcPts val="2250"/>
              </a:spcAft>
              <a:buNone/>
            </a:pPr>
            <a:r>
              <a:rPr lang="en-US" sz="1950" dirty="0">
                <a:solidFill>
                  <a:srgbClr val="3D3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일상의 화병을 예술로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6750" y="1798737"/>
            <a:ext cx="381000" cy="9525"/>
          </a:xfrm>
          <a:prstGeom prst="rect">
            <a:avLst/>
          </a:prstGeom>
          <a:solidFill>
            <a:srgbClr val="6B53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6750" y="2284512"/>
            <a:ext cx="378904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825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우리 곁에 늘 있던 화병이</a:t>
            </a:r>
            <a:endParaRPr lang="en-US" sz="825" dirty="0"/>
          </a:p>
          <a:p>
            <a:pPr algn="l" indent="0" marL="0">
              <a:lnSpc>
                <a:spcPts val="165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825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작가의 손끝에서 예술로 거듭납니다.</a:t>
            </a:r>
            <a:endParaRPr lang="en-US" sz="825" dirty="0"/>
          </a:p>
          <a:p>
            <a:pPr algn="l" indent="0" marL="0">
              <a:lnSpc>
                <a:spcPts val="1650"/>
              </a:lnSpc>
              <a:spcBef>
                <a:spcPts val="300"/>
              </a:spcBef>
              <a:spcAft>
                <a:spcPts val="1500"/>
              </a:spcAft>
              <a:buNone/>
            </a:pPr>
            <a:endParaRPr lang="en-US" sz="825" dirty="0"/>
          </a:p>
          <a:p>
            <a:pPr algn="l" indent="0" marL="0">
              <a:lnSpc>
                <a:spcPts val="165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825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수만 번의 송곳질이 빚어낸</a:t>
            </a:r>
            <a:endParaRPr lang="en-US" sz="825" dirty="0"/>
          </a:p>
          <a:p>
            <a:pPr algn="l" indent="0" marL="0">
              <a:lnSpc>
                <a:spcPts val="165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825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인내의 질감과 소박한 아름다움.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666750" y="3522762"/>
            <a:ext cx="378904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청동과 흙의 절제된 만남이</a:t>
            </a:r>
            <a:endParaRPr lang="en-US" sz="825" dirty="0"/>
          </a:p>
          <a:p>
            <a:pPr algn="l" indent="0" marL="0">
              <a:lnSpc>
                <a:spcPts val="16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전하는 고요한 울림.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762500" y="2246412"/>
            <a:ext cx="3714750" cy="1535311"/>
          </a:xfrm>
          <a:prstGeom prst="rect">
            <a:avLst/>
          </a:prstGeom>
          <a:solidFill>
            <a:srgbClr val="E8E0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76788" y="2246412"/>
            <a:ext cx="0" cy="1535311"/>
          </a:xfrm>
          <a:prstGeom prst="line">
            <a:avLst/>
          </a:prstGeom>
          <a:noFill/>
          <a:ln w="28575">
            <a:solidFill>
              <a:srgbClr val="6B53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2522637"/>
            <a:ext cx="32741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5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器道의 정신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29200" y="2751237"/>
            <a:ext cx="3274124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그릇에도 도(道)가 있습니다.</a:t>
            </a:r>
            <a:endParaRPr lang="en-US" sz="825" dirty="0"/>
          </a:p>
          <a:p>
            <a:pPr algn="l" indent="0" marL="0">
              <a:lnSpc>
                <a:spcPts val="14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일상의 쓰임을 넘어</a:t>
            </a:r>
            <a:endParaRPr lang="en-US" sz="825" dirty="0"/>
          </a:p>
          <a:p>
            <a:pPr algn="l" indent="0" marL="0">
              <a:lnSpc>
                <a:spcPts val="14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아름다움의 경지에 이르는 길,</a:t>
            </a:r>
            <a:endParaRPr lang="en-US" sz="825" dirty="0"/>
          </a:p>
          <a:p>
            <a:pPr algn="l" indent="0" marL="0">
              <a:lnSpc>
                <a:spcPts val="14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그것이 器道입니다.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62500" y="3972223"/>
            <a:ext cx="378904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7D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way of the vessel —</a:t>
            </a:r>
            <a:endParaRPr lang="en-US" sz="750" dirty="0"/>
          </a:p>
          <a:p>
            <a:pPr algn="l" indent="0" marL="0">
              <a:lnSpc>
                <a:spcPts val="135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7D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Where utility transcends</a:t>
            </a:r>
            <a:endParaRPr lang="en-US" sz="750" dirty="0"/>
          </a:p>
          <a:p>
            <a:pPr algn="l" indent="0" marL="0">
              <a:lnSpc>
                <a:spcPts val="135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7D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into the realm of beauty.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e72f3d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381000"/>
            <a:ext cx="7810500" cy="4381500"/>
          </a:xfrm>
          <a:prstGeom prst="rect">
            <a:avLst/>
          </a:prstGeom>
          <a:effectLst>
            <a:outerShdw sx="100000" sy="100000" kx="0" ky="0" algn="bl" rotWithShape="0" blurRad="304800" dist="76200" dir="5400000">
              <a:srgbClr val="4a3728">
                <a:alpha val="12000"/>
              </a:srgbClr>
            </a:outerShdw>
          </a:effectLst>
        </p:spPr>
      </p:pic>
      <p:pic>
        <p:nvPicPr>
          <p:cNvPr id="3" name="Image 1" descr="/tmp/rasterized-gradient-d3fcc48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390525"/>
            <a:ext cx="266700" cy="4362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5400000">
            <a:off x="695325" y="2511772"/>
            <a:ext cx="2331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C4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器道漢詩</a:t>
            </a:r>
            <a:endParaRPr lang="en-US" sz="675" dirty="0"/>
          </a:p>
        </p:txBody>
      </p:sp>
      <p:sp>
        <p:nvSpPr>
          <p:cNvPr id="5" name="Text 1"/>
          <p:cNvSpPr/>
          <p:nvPr/>
        </p:nvSpPr>
        <p:spPr>
          <a:xfrm rot="5400000">
            <a:off x="3752850" y="2371725"/>
            <a:ext cx="35947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D3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萬針穿土成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 rot="5400000">
            <a:off x="3048000" y="2371725"/>
            <a:ext cx="35947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D3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銅火共一心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 rot="5400000">
            <a:off x="2343150" y="2371725"/>
            <a:ext cx="35947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D3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日用化爲藝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 rot="5400000">
            <a:off x="1638300" y="2371725"/>
            <a:ext cx="35947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D3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器中自有道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2571750" y="809625"/>
            <a:ext cx="323850" cy="32385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2171700" y="809625"/>
            <a:ext cx="323850" cy="323850"/>
          </a:xfrm>
          <a:prstGeom prst="rect">
            <a:avLst/>
          </a:prstGeom>
          <a:noFill/>
          <a:ln w="19050">
            <a:solidFill>
              <a:srgbClr val="8B451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948488" y="390525"/>
            <a:ext cx="0" cy="4362450"/>
          </a:xfrm>
          <a:prstGeom prst="line">
            <a:avLst/>
          </a:prstGeom>
          <a:noFill/>
          <a:ln w="9525">
            <a:solidFill>
              <a:srgbClr val="D4CBC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124700" y="714375"/>
            <a:ext cx="11950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675" dirty="0">
                <a:solidFill>
                  <a:srgbClr val="7D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解釋</a:t>
            </a:r>
            <a:endParaRPr lang="en-US" sz="675" dirty="0"/>
          </a:p>
        </p:txBody>
      </p:sp>
      <p:sp>
        <p:nvSpPr>
          <p:cNvPr id="13" name="Text 9"/>
          <p:cNvSpPr/>
          <p:nvPr/>
        </p:nvSpPr>
        <p:spPr>
          <a:xfrm>
            <a:off x="7124700" y="948630"/>
            <a:ext cx="1195007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만 번의 송곳질로 흙을 이루고</a:t>
            </a:r>
            <a:endParaRPr lang="en-US" sz="750" dirty="0"/>
          </a:p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청동과 불이 한 마음으로 만나</a:t>
            </a:r>
            <a:endParaRPr lang="en-US" sz="750" dirty="0"/>
          </a:p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일상의 쓰임이 예술이 되니</a:t>
            </a:r>
            <a:endParaRPr lang="en-US" sz="750" dirty="0"/>
          </a:p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그릇 속에 절로 도가 있네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7124700" y="4040684"/>
            <a:ext cx="1195007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A09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thousand marks</a:t>
            </a:r>
            <a:endParaRPr lang="en-US" sz="600" dirty="0"/>
          </a:p>
          <a:p>
            <a:pPr algn="l" indent="0" marL="0">
              <a:lnSpc>
                <a:spcPts val="10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A09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shape the clay,</a:t>
            </a:r>
            <a:endParaRPr lang="en-US" sz="600" dirty="0"/>
          </a:p>
          <a:p>
            <a:pPr algn="l" indent="0" marL="0">
              <a:lnSpc>
                <a:spcPts val="10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A09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Way lives in vessels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925193" cy="5143500"/>
          </a:xfrm>
          <a:prstGeom prst="rect">
            <a:avLst/>
          </a:prstGeom>
          <a:solidFill>
            <a:srgbClr val="E8E0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claude/vase/vase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852" y="285750"/>
            <a:ext cx="3049488" cy="45718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1468" y="324743"/>
            <a:ext cx="4099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7D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Ⅰ · 器道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601468" y="686693"/>
            <a:ext cx="2059686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3D3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천공병 (穿空甁)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601468" y="1169194"/>
            <a:ext cx="40990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1350"/>
              </a:spcAft>
              <a:buNone/>
            </a:pPr>
            <a:r>
              <a:rPr lang="en-US" sz="975" i="1" dirty="0">
                <a:solidFill>
                  <a:srgbClr val="7D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Vessel of Ten Thousand Marks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601468" y="1704380"/>
            <a:ext cx="40990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825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Patience Becomes Texture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4601468" y="2536775"/>
            <a:ext cx="4018657" cy="638026"/>
          </a:xfrm>
          <a:prstGeom prst="rect">
            <a:avLst/>
          </a:prstGeom>
          <a:solidFill>
            <a:srgbClr val="E8E0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610993" y="2536775"/>
            <a:ext cx="0" cy="638026"/>
          </a:xfrm>
          <a:prstGeom prst="line">
            <a:avLst/>
          </a:prstGeom>
          <a:noFill/>
          <a:ln w="19050">
            <a:solidFill>
              <a:srgbClr val="6B53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72918" y="2708225"/>
            <a:ext cx="37687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B5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화도 송곳질기법 · 28×35cm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4772918" y="2866281"/>
            <a:ext cx="3768703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B6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수만 번의 송곳질로 완성된 표면의 질감. 인내와 시간이 빚어낸 소박한 아름다움.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4601468" y="3555802"/>
            <a:ext cx="4099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675" dirty="0">
                <a:solidFill>
                  <a:srgbClr val="A09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作品 解說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4601468" y="3732907"/>
            <a:ext cx="409903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땀 한 땀, 수만 번의 송곳질이</a:t>
            </a:r>
            <a:endParaRPr lang="en-US" sz="750" dirty="0"/>
          </a:p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흙 위에 시간을 새겼습니다.</a:t>
            </a:r>
            <a:endParaRPr lang="en-US" sz="750" dirty="0"/>
          </a:p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750" dirty="0"/>
          </a:p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인내가 질감이 되고,</a:t>
            </a:r>
            <a:endParaRPr lang="en-US" sz="750" dirty="0"/>
          </a:p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반복이 아름다움이 되는 순간.</a:t>
            </a:r>
            <a:endParaRPr lang="en-US" sz="750" dirty="0"/>
          </a:p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일상의 화병이 예술로 피어납니다.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925193" cy="5143500"/>
          </a:xfrm>
          <a:prstGeom prst="rect">
            <a:avLst/>
          </a:prstGeom>
          <a:solidFill>
            <a:srgbClr val="E8E0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claude/vase/vas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852" y="285750"/>
            <a:ext cx="3049488" cy="45718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1468" y="324743"/>
            <a:ext cx="4099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7D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Ⅱ · 器道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601468" y="686693"/>
            <a:ext cx="2059686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3D3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와동병 (渦銅甁)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601468" y="1169194"/>
            <a:ext cx="40990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1350"/>
              </a:spcAft>
              <a:buNone/>
            </a:pPr>
            <a:r>
              <a:rPr lang="en-US" sz="975" i="1" dirty="0">
                <a:solidFill>
                  <a:srgbClr val="7D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Bronze Whispers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601468" y="1704380"/>
            <a:ext cx="40990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825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Spirals Dancing in Earth and Metal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4601468" y="2536775"/>
            <a:ext cx="4018657" cy="638026"/>
          </a:xfrm>
          <a:prstGeom prst="rect">
            <a:avLst/>
          </a:prstGeom>
          <a:solidFill>
            <a:srgbClr val="E8E0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610993" y="2536775"/>
            <a:ext cx="0" cy="638026"/>
          </a:xfrm>
          <a:prstGeom prst="line">
            <a:avLst/>
          </a:prstGeom>
          <a:noFill/>
          <a:ln w="19050">
            <a:solidFill>
              <a:srgbClr val="6B53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72918" y="2708225"/>
            <a:ext cx="37687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B5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화도 청동코일기법 · 18×32cm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4772918" y="2866281"/>
            <a:ext cx="3768703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B6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청동과 결합된 화병의 고유한 이미지를 재해석. 절제된 아름다움이 배어있는 작품.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4601468" y="3555802"/>
            <a:ext cx="4099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675" dirty="0">
                <a:solidFill>
                  <a:srgbClr val="A09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作品 解說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4601468" y="3732907"/>
            <a:ext cx="409903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청동빛 소용돌이가</a:t>
            </a:r>
            <a:endParaRPr lang="en-US" sz="750" dirty="0"/>
          </a:p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흙 위에서 춤을 춥니다.</a:t>
            </a:r>
            <a:endParaRPr lang="en-US" sz="750" dirty="0"/>
          </a:p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750" dirty="0"/>
          </a:p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금속과 흙의 절제된 만남,</a:t>
            </a:r>
            <a:endParaRPr lang="en-US" sz="750" dirty="0"/>
          </a:p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화려하지 않으나 깊은 울림을 전하는</a:t>
            </a:r>
            <a:endParaRPr lang="en-US" sz="750" dirty="0"/>
          </a:p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절제된 아름다움의 정수입니다.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206478" cy="5143500"/>
          </a:xfrm>
          <a:prstGeom prst="rect">
            <a:avLst/>
          </a:prstGeom>
          <a:solidFill>
            <a:srgbClr val="E8E0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claude/vase/vase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95" y="285750"/>
            <a:ext cx="3049488" cy="45718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35128" y="335310"/>
            <a:ext cx="39092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7D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 Ⅲ · 器道 · SET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835128" y="697260"/>
            <a:ext cx="1962531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Aft>
                <a:spcPts val="300"/>
              </a:spcAft>
              <a:buNone/>
            </a:pPr>
            <a:r>
              <a:rPr lang="en-US" sz="1650" dirty="0">
                <a:solidFill>
                  <a:srgbClr val="3D3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쌍와동병 (雙渦銅甁)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835128" y="1158627"/>
            <a:ext cx="390927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1350"/>
              </a:spcAft>
              <a:buNone/>
            </a:pPr>
            <a:r>
              <a:rPr lang="en-US" sz="975" i="1" dirty="0">
                <a:solidFill>
                  <a:srgbClr val="7D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Twin Bronze Whispers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835128" y="1693813"/>
            <a:ext cx="39092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825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Voices in Harmonious Silence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4835128" y="2526209"/>
            <a:ext cx="3832622" cy="638026"/>
          </a:xfrm>
          <a:prstGeom prst="rect">
            <a:avLst/>
          </a:prstGeom>
          <a:solidFill>
            <a:srgbClr val="E8E0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844653" y="2526209"/>
            <a:ext cx="0" cy="638026"/>
          </a:xfrm>
          <a:prstGeom prst="line">
            <a:avLst/>
          </a:prstGeom>
          <a:noFill/>
          <a:ln w="19050">
            <a:solidFill>
              <a:srgbClr val="6B53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06578" y="2697659"/>
            <a:ext cx="35789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B5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화도 청동코일기법 · 18×32cm, 15×26cm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5006578" y="2855714"/>
            <a:ext cx="3578947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B6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와동병의 세트 작품. 큰 화병과 작은 화병이 서로를 비추며 조화를 이룹니다.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4835128" y="3545235"/>
            <a:ext cx="39092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675" dirty="0">
                <a:solidFill>
                  <a:srgbClr val="A09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作品 解說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4835128" y="3722340"/>
            <a:ext cx="3909274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큰 화병과 작은 화병이</a:t>
            </a:r>
            <a:endParaRPr lang="en-US" sz="750" dirty="0"/>
          </a:p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나란히 서서 서로를 비춥니다.</a:t>
            </a:r>
            <a:endParaRPr lang="en-US" sz="750" dirty="0"/>
          </a:p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750" dirty="0"/>
          </a:p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같은 손에서 태어났으나</a:t>
            </a:r>
            <a:endParaRPr lang="en-US" sz="750" dirty="0"/>
          </a:p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각자의 목소리로 노래하고,</a:t>
            </a:r>
            <a:endParaRPr lang="en-US" sz="750" dirty="0"/>
          </a:p>
          <a:p>
            <a:pPr algn="l" indent="0" marL="0">
              <a:lnSpc>
                <a:spcPts val="14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함께 있을 때 비로소 완성되는 조화.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33875" y="693539"/>
            <a:ext cx="476250" cy="9525"/>
          </a:xfrm>
          <a:prstGeom prst="rect">
            <a:avLst/>
          </a:prstGeom>
          <a:solidFill>
            <a:srgbClr val="6B53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73845" y="1084064"/>
            <a:ext cx="219631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975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"일상의 화병을 예술로"</a:t>
            </a:r>
            <a:endParaRPr lang="en-US" sz="975" dirty="0"/>
          </a:p>
          <a:p>
            <a:pPr algn="ctr" indent="0" marL="0">
              <a:lnSpc>
                <a:spcPts val="195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975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器中自有道 — 그릇 속에 절로 도가 있네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4452938" y="1922264"/>
            <a:ext cx="238125" cy="9525"/>
          </a:xfrm>
          <a:prstGeom prst="rect">
            <a:avLst/>
          </a:prstGeom>
          <a:solidFill>
            <a:srgbClr val="C4B8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50474" y="2312789"/>
            <a:ext cx="14429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3D3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정선영 Jung Sun-Young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009867" y="2741414"/>
            <a:ext cx="11242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675" dirty="0">
                <a:solidFill>
                  <a:srgbClr val="7D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CERAMIC ARTIST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008653" y="3194745"/>
            <a:ext cx="11266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675" dirty="0">
                <a:solidFill>
                  <a:srgbClr val="7D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器道 — Elevating the Everyday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4333875" y="3609975"/>
            <a:ext cx="476250" cy="9525"/>
          </a:xfrm>
          <a:prstGeom prst="rect">
            <a:avLst/>
          </a:prstGeom>
          <a:solidFill>
            <a:srgbClr val="6B53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97532" y="3952875"/>
            <a:ext cx="13489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7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관훈아르떼 KWANHOON ARTE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911953" y="4305300"/>
            <a:ext cx="132009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A09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Private Gallery · Seoul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器道: Vase Series</dc:title>
  <dc:subject>Jung Sun-Young Vase Collection - Elevating the Everyday</dc:subject>
  <dc:creator>Kwanhoon Arte</dc:creator>
  <cp:lastModifiedBy>Kwanhoon Arte</cp:lastModifiedBy>
  <cp:revision>1</cp:revision>
  <dcterms:created xsi:type="dcterms:W3CDTF">2025-12-21T09:37:21Z</dcterms:created>
  <dcterms:modified xsi:type="dcterms:W3CDTF">2025-12-21T09:37:21Z</dcterms:modified>
</cp:coreProperties>
</file>