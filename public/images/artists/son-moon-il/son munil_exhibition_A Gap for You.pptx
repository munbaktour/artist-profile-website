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65"/>
  </p:normalViewPr>
  <p:slideViewPr>
    <p:cSldViewPr snapToGrid="0" snapToObjects="1">
      <p:cViewPr varScale="1">
        <p:scale>
          <a:sx n="107" d="100"/>
          <a:sy n="107" d="100"/>
        </p:scale>
        <p:origin x="73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슬라이드 번호"/>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제목 텍스트"/>
          <p:cNvSpPr txBox="1">
            <a:spLocks noGrp="1"/>
          </p:cNvSpPr>
          <p:nvPr>
            <p:ph type="title"/>
          </p:nvPr>
        </p:nvSpPr>
        <p:spPr>
          <a:xfrm>
            <a:off x="609600" y="92074"/>
            <a:ext cx="10972800" cy="1508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p>
            <a:r>
              <a:t>제목 텍스트</a:t>
            </a:r>
          </a:p>
        </p:txBody>
      </p:sp>
      <p:sp>
        <p:nvSpPr>
          <p:cNvPr id="3" name="본문 첫 번째 줄…"/>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t>본문 첫 번째 줄</a:t>
            </a:r>
          </a:p>
          <a:p>
            <a:pPr lvl="1"/>
            <a:r>
              <a:t>본문 두 번째 줄</a:t>
            </a:r>
          </a:p>
          <a:p>
            <a:pPr lvl="2"/>
            <a:r>
              <a:t>본문 세 번째 줄</a:t>
            </a:r>
          </a:p>
          <a:p>
            <a:pPr lvl="3"/>
            <a:r>
              <a:t>본문 네 번째 줄</a:t>
            </a:r>
          </a:p>
          <a:p>
            <a:pPr lvl="4"/>
            <a:r>
              <a:t>본문 다섯 번째 줄</a:t>
            </a:r>
          </a:p>
        </p:txBody>
      </p:sp>
      <p:sp>
        <p:nvSpPr>
          <p:cNvPr id="4" name="슬라이드 번호"/>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4.png"/><Relationship Id="rId2" Type="http://schemas.openxmlformats.org/officeDocument/2006/relationships/image" Target="../media/image9.jpe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4.jpe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jpeg"/><Relationship Id="rId4" Type="http://schemas.openxmlformats.org/officeDocument/2006/relationships/image" Target="../media/image22.jpeg"/></Relationships>
</file>

<file path=ppt/slides/_rels/slide1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0"/>
          <p:cNvSpPr/>
          <p:nvPr/>
        </p:nvSpPr>
        <p:spPr>
          <a:xfrm>
            <a:off x="-1" y="0"/>
            <a:ext cx="12191697" cy="6858000"/>
          </a:xfrm>
          <a:prstGeom prst="rect">
            <a:avLst/>
          </a:prstGeom>
          <a:solidFill>
            <a:srgbClr val="1A1A1A"/>
          </a:solidFill>
          <a:ln w="12700">
            <a:miter lim="400000"/>
          </a:ln>
        </p:spPr>
        <p:txBody>
          <a:bodyPr lIns="45719" rIns="45719"/>
          <a:lstStyle/>
          <a:p>
            <a:endParaRPr/>
          </a:p>
        </p:txBody>
      </p:sp>
      <p:sp>
        <p:nvSpPr>
          <p:cNvPr id="21" name="Shape 1"/>
          <p:cNvSpPr/>
          <p:nvPr/>
        </p:nvSpPr>
        <p:spPr>
          <a:xfrm>
            <a:off x="-1" y="0"/>
            <a:ext cx="12191697" cy="6858000"/>
          </a:xfrm>
          <a:prstGeom prst="rect">
            <a:avLst/>
          </a:prstGeom>
          <a:solidFill>
            <a:srgbClr val="1A1A1A"/>
          </a:solidFill>
          <a:ln w="12700">
            <a:miter lim="400000"/>
          </a:ln>
        </p:spPr>
        <p:txBody>
          <a:bodyPr lIns="45719" rIns="45719"/>
          <a:lstStyle/>
          <a:p>
            <a:endParaRPr/>
          </a:p>
        </p:txBody>
      </p:sp>
      <p:pic>
        <p:nvPicPr>
          <p:cNvPr id="22" name="Image 0" descr="Image 0"/>
          <p:cNvPicPr>
            <a:picLocks noChangeAspect="1"/>
          </p:cNvPicPr>
          <p:nvPr/>
        </p:nvPicPr>
        <p:blipFill>
          <a:blip r:embed="rId2"/>
          <a:srcRect t="10804" b="43217"/>
          <a:stretch>
            <a:fillRect/>
          </a:stretch>
        </p:blipFill>
        <p:spPr>
          <a:xfrm>
            <a:off x="0" y="0"/>
            <a:ext cx="12191696" cy="6858000"/>
          </a:xfrm>
          <a:prstGeom prst="rect">
            <a:avLst/>
          </a:prstGeom>
          <a:ln w="12700">
            <a:miter lim="400000"/>
          </a:ln>
        </p:spPr>
      </p:pic>
      <p:sp>
        <p:nvSpPr>
          <p:cNvPr id="23" name="Shape 2"/>
          <p:cNvSpPr/>
          <p:nvPr/>
        </p:nvSpPr>
        <p:spPr>
          <a:xfrm>
            <a:off x="-1" y="0"/>
            <a:ext cx="12191697" cy="6858000"/>
          </a:xfrm>
          <a:prstGeom prst="rect">
            <a:avLst/>
          </a:prstGeom>
          <a:solidFill>
            <a:srgbClr val="000000">
              <a:alpha val="20000"/>
            </a:srgbClr>
          </a:solidFill>
          <a:ln w="12700">
            <a:miter lim="400000"/>
          </a:ln>
        </p:spPr>
        <p:txBody>
          <a:bodyPr lIns="45719" rIns="45719"/>
          <a:lstStyle/>
          <a:p>
            <a:endParaRPr/>
          </a:p>
        </p:txBody>
      </p:sp>
      <p:sp>
        <p:nvSpPr>
          <p:cNvPr id="24" name="Shape 3"/>
          <p:cNvSpPr/>
          <p:nvPr/>
        </p:nvSpPr>
        <p:spPr>
          <a:xfrm>
            <a:off x="609905" y="5160923"/>
            <a:ext cx="10972801" cy="12701"/>
          </a:xfrm>
          <a:prstGeom prst="rect">
            <a:avLst/>
          </a:prstGeom>
          <a:solidFill>
            <a:srgbClr val="FFFFFF">
              <a:alpha val="40000"/>
            </a:srgbClr>
          </a:solidFill>
          <a:ln w="12700">
            <a:miter lim="400000"/>
          </a:ln>
        </p:spPr>
        <p:txBody>
          <a:bodyPr lIns="45719" rIns="45719"/>
          <a:lstStyle/>
          <a:p>
            <a:endParaRPr/>
          </a:p>
        </p:txBody>
      </p:sp>
      <p:pic>
        <p:nvPicPr>
          <p:cNvPr id="25" name="Image 1" descr="Image 1"/>
          <p:cNvPicPr>
            <a:picLocks noChangeAspect="1"/>
          </p:cNvPicPr>
          <p:nvPr/>
        </p:nvPicPr>
        <p:blipFill>
          <a:blip r:embed="rId3"/>
          <a:stretch>
            <a:fillRect/>
          </a:stretch>
        </p:blipFill>
        <p:spPr>
          <a:xfrm>
            <a:off x="8870708" y="5924398"/>
            <a:ext cx="85727" cy="114301"/>
          </a:xfrm>
          <a:prstGeom prst="rect">
            <a:avLst/>
          </a:prstGeom>
          <a:ln w="12700">
            <a:miter lim="400000"/>
          </a:ln>
        </p:spPr>
      </p:pic>
      <p:sp>
        <p:nvSpPr>
          <p:cNvPr id="26" name="Text 4"/>
          <p:cNvSpPr txBox="1"/>
          <p:nvPr/>
        </p:nvSpPr>
        <p:spPr>
          <a:xfrm>
            <a:off x="1181405" y="611377"/>
            <a:ext cx="1067106"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E5E7EB"/>
                </a:solidFill>
                <a:latin typeface="Noto Sans KR"/>
                <a:ea typeface="Noto Sans KR"/>
                <a:cs typeface="Noto Sans KR"/>
                <a:sym typeface="Noto Sans KR"/>
              </a:defRPr>
            </a:lvl1pPr>
          </a:lstStyle>
          <a:p>
            <a:r>
              <a:t>SOLO EXHIBITION</a:t>
            </a:r>
          </a:p>
        </p:txBody>
      </p:sp>
      <p:sp>
        <p:nvSpPr>
          <p:cNvPr id="27" name="Text 5"/>
          <p:cNvSpPr txBox="1"/>
          <p:nvPr/>
        </p:nvSpPr>
        <p:spPr>
          <a:xfrm>
            <a:off x="609905" y="944899"/>
            <a:ext cx="6648602" cy="8735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5400" b="1">
                <a:solidFill>
                  <a:srgbClr val="FFFFFF"/>
                </a:solidFill>
                <a:latin typeface="Noto Serif KR"/>
                <a:ea typeface="Noto Serif KR"/>
                <a:cs typeface="Noto Serif KR"/>
                <a:sym typeface="Noto Serif KR"/>
              </a:defRPr>
            </a:lvl1pPr>
          </a:lstStyle>
          <a:p>
            <a:r>
              <a:t>당신을 위한 나의 틈</a:t>
            </a:r>
          </a:p>
        </p:txBody>
      </p:sp>
      <p:sp>
        <p:nvSpPr>
          <p:cNvPr id="28" name="Text 6"/>
          <p:cNvSpPr txBox="1"/>
          <p:nvPr/>
        </p:nvSpPr>
        <p:spPr>
          <a:xfrm>
            <a:off x="609905" y="5496611"/>
            <a:ext cx="624536" cy="152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D1D5DB"/>
                </a:solidFill>
                <a:latin typeface="Noto Sans KR"/>
                <a:ea typeface="Noto Sans KR"/>
                <a:cs typeface="Noto Sans KR"/>
                <a:sym typeface="Noto Sans KR"/>
              </a:defRPr>
            </a:lvl1pPr>
          </a:lstStyle>
          <a:p>
            <a:r>
              <a:t>ARTIST</a:t>
            </a:r>
          </a:p>
        </p:txBody>
      </p:sp>
      <p:sp>
        <p:nvSpPr>
          <p:cNvPr id="29" name="Text 7"/>
          <p:cNvSpPr txBox="1"/>
          <p:nvPr/>
        </p:nvSpPr>
        <p:spPr>
          <a:xfrm>
            <a:off x="609904" y="5676274"/>
            <a:ext cx="1467614" cy="4304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700">
                <a:solidFill>
                  <a:srgbClr val="FFFFFF"/>
                </a:solidFill>
                <a:latin typeface="Noto Serif KR"/>
                <a:ea typeface="Noto Serif KR"/>
                <a:cs typeface="Noto Serif KR"/>
                <a:sym typeface="Noto Serif KR"/>
              </a:defRPr>
            </a:lvl1pPr>
          </a:lstStyle>
          <a:p>
            <a:r>
              <a:t>손 문 일</a:t>
            </a:r>
          </a:p>
        </p:txBody>
      </p:sp>
      <p:sp>
        <p:nvSpPr>
          <p:cNvPr id="30" name="Text 8"/>
          <p:cNvSpPr txBox="1"/>
          <p:nvPr/>
        </p:nvSpPr>
        <p:spPr>
          <a:xfrm>
            <a:off x="9789566" y="5494376"/>
            <a:ext cx="1972362"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a:solidFill>
                  <a:srgbClr val="FFFFFF"/>
                </a:solidFill>
                <a:latin typeface="Noto Sans KR"/>
                <a:ea typeface="Noto Sans KR"/>
                <a:cs typeface="Noto Sans KR"/>
                <a:sym typeface="Noto Sans KR"/>
              </a:defRPr>
            </a:lvl1pPr>
          </a:lstStyle>
          <a:p>
            <a:r>
              <a:t>2025. 1. 8 — 1. 31</a:t>
            </a:r>
          </a:p>
        </p:txBody>
      </p:sp>
      <p:sp>
        <p:nvSpPr>
          <p:cNvPr id="31" name="Text 9"/>
          <p:cNvSpPr txBox="1"/>
          <p:nvPr/>
        </p:nvSpPr>
        <p:spPr>
          <a:xfrm>
            <a:off x="9033357" y="5886755"/>
            <a:ext cx="2667306" cy="190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200">
                <a:solidFill>
                  <a:srgbClr val="F3F4F6"/>
                </a:solidFill>
                <a:latin typeface="Noto Sans KR"/>
                <a:ea typeface="Noto Sans KR"/>
                <a:cs typeface="Noto Sans KR"/>
                <a:sym typeface="Noto Sans KR"/>
              </a:defRPr>
            </a:lvl1pPr>
          </a:lstStyle>
          <a:p>
            <a:r>
              <a:t>관훈갤러리 3F GWANHOON GALLERY</a:t>
            </a:r>
          </a:p>
        </p:txBody>
      </p:sp>
      <p:sp>
        <p:nvSpPr>
          <p:cNvPr id="32" name="Shape 10"/>
          <p:cNvSpPr/>
          <p:nvPr/>
        </p:nvSpPr>
        <p:spPr>
          <a:xfrm>
            <a:off x="609905" y="679450"/>
            <a:ext cx="457201" cy="12700"/>
          </a:xfrm>
          <a:prstGeom prst="rect">
            <a:avLst/>
          </a:prstGeom>
          <a:solidFill>
            <a:srgbClr val="FFFFFF">
              <a:alpha val="80000"/>
            </a:srgbClr>
          </a:solidFill>
          <a:ln w="12700">
            <a:miter lim="400000"/>
          </a:ln>
        </p:spPr>
        <p:txBody>
          <a:bodyPr lIns="45719" rIns="45719"/>
          <a:lstStyle/>
          <a:p>
            <a:endParaRPr/>
          </a:p>
        </p:txBody>
      </p:sp>
      <p:sp>
        <p:nvSpPr>
          <p:cNvPr id="33" name="Text 11"/>
          <p:cNvSpPr txBox="1"/>
          <p:nvPr/>
        </p:nvSpPr>
        <p:spPr>
          <a:xfrm>
            <a:off x="647395" y="1931161"/>
            <a:ext cx="2339035"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200" i="1">
                <a:solidFill>
                  <a:srgbClr val="F3F4F6">
                    <a:alpha val="95000"/>
                  </a:srgbClr>
                </a:solidFill>
                <a:latin typeface="Noto Serif KR"/>
                <a:ea typeface="Noto Serif KR"/>
                <a:cs typeface="Noto Serif KR"/>
                <a:sym typeface="Noto Serif KR"/>
              </a:defRPr>
            </a:lvl1pPr>
          </a:lstStyle>
          <a:p>
            <a:r>
              <a:t>A Gap for You</a:t>
            </a:r>
          </a:p>
        </p:txBody>
      </p:sp>
      <p:sp>
        <p:nvSpPr>
          <p:cNvPr id="34" name="Text 12"/>
          <p:cNvSpPr txBox="1"/>
          <p:nvPr/>
        </p:nvSpPr>
        <p:spPr>
          <a:xfrm>
            <a:off x="1968703" y="5799785"/>
            <a:ext cx="1381659"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a:solidFill>
                  <a:srgbClr val="E5E7EB">
                    <a:alpha val="80000"/>
                  </a:srgbClr>
                </a:solidFill>
                <a:latin typeface="Noto Sans KR"/>
                <a:ea typeface="Noto Sans KR"/>
                <a:cs typeface="Noto Sans KR"/>
                <a:sym typeface="Noto Sans KR"/>
              </a:defRPr>
            </a:lvl1pPr>
          </a:lstStyle>
          <a:p>
            <a:r>
              <a:t>SON MUNIL</a:t>
            </a:r>
          </a:p>
        </p:txBody>
      </p:sp>
      <p:sp>
        <p:nvSpPr>
          <p:cNvPr id="35" name="Shape 13"/>
          <p:cNvSpPr/>
          <p:nvPr/>
        </p:nvSpPr>
        <p:spPr>
          <a:xfrm>
            <a:off x="-1" y="-1"/>
            <a:ext cx="12191697" cy="75897"/>
          </a:xfrm>
          <a:prstGeom prst="rect">
            <a:avLst/>
          </a:prstGeom>
          <a:solidFill>
            <a:srgbClr val="FFFFFF">
              <a:alpha val="80000"/>
            </a:srgbClr>
          </a:solidFill>
          <a:ln w="12700">
            <a:miter lim="400000"/>
          </a:ln>
        </p:spPr>
        <p:txBody>
          <a:bodyPr lIns="45719" rIns="45719"/>
          <a:lstStyle/>
          <a:p>
            <a:endParaRPr/>
          </a:p>
        </p:txBody>
      </p:sp>
      <p:sp>
        <p:nvSpPr>
          <p:cNvPr id="36" name="Shape 14"/>
          <p:cNvSpPr/>
          <p:nvPr/>
        </p:nvSpPr>
        <p:spPr>
          <a:xfrm>
            <a:off x="11620195" y="457200"/>
            <a:ext cx="114301" cy="114300"/>
          </a:xfrm>
          <a:prstGeom prst="roundRect">
            <a:avLst>
              <a:gd name="adj" fmla="val 50000"/>
            </a:avLst>
          </a:prstGeom>
          <a:solidFill>
            <a:srgbClr val="FFFFFF">
              <a:alpha val="90000"/>
            </a:srgbClr>
          </a:solidFill>
          <a:ln w="12700">
            <a:miter lim="400000"/>
          </a:ln>
          <a:effectLst>
            <a:outerShdw blurRad="12700" dist="12700" dir="16200000" rotWithShape="0">
              <a:srgbClr val="000000">
                <a:alpha val="75000"/>
              </a:srgbClr>
            </a:outerShdw>
          </a:effectLst>
        </p:spPr>
        <p:txBody>
          <a:bodyPr lIns="45719" rIns="45719"/>
          <a:lstStyle/>
          <a:p>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0"/>
          <p:cNvSpPr/>
          <p:nvPr/>
        </p:nvSpPr>
        <p:spPr>
          <a:xfrm>
            <a:off x="-1" y="0"/>
            <a:ext cx="12191697" cy="6858000"/>
          </a:xfrm>
          <a:prstGeom prst="rect">
            <a:avLst/>
          </a:prstGeom>
          <a:solidFill>
            <a:srgbClr val="FFFFFF"/>
          </a:solidFill>
          <a:ln w="12700">
            <a:miter lim="400000"/>
          </a:ln>
        </p:spPr>
        <p:txBody>
          <a:bodyPr lIns="45719" rIns="45719"/>
          <a:lstStyle/>
          <a:p>
            <a:endParaRPr/>
          </a:p>
        </p:txBody>
      </p:sp>
      <p:sp>
        <p:nvSpPr>
          <p:cNvPr id="39" name="Shape 1"/>
          <p:cNvSpPr/>
          <p:nvPr/>
        </p:nvSpPr>
        <p:spPr>
          <a:xfrm>
            <a:off x="-1" y="0"/>
            <a:ext cx="12191697" cy="6858000"/>
          </a:xfrm>
          <a:prstGeom prst="rect">
            <a:avLst/>
          </a:prstGeom>
          <a:solidFill>
            <a:srgbClr val="FCFCFC"/>
          </a:solidFill>
          <a:ln w="12700">
            <a:miter lim="400000"/>
          </a:ln>
        </p:spPr>
        <p:txBody>
          <a:bodyPr lIns="45719" rIns="45719"/>
          <a:lstStyle/>
          <a:p>
            <a:endParaRPr/>
          </a:p>
        </p:txBody>
      </p:sp>
      <p:sp>
        <p:nvSpPr>
          <p:cNvPr id="40" name="Shape 2"/>
          <p:cNvSpPr/>
          <p:nvPr/>
        </p:nvSpPr>
        <p:spPr>
          <a:xfrm>
            <a:off x="609905" y="1218032"/>
            <a:ext cx="10972801" cy="12701"/>
          </a:xfrm>
          <a:prstGeom prst="rect">
            <a:avLst/>
          </a:prstGeom>
          <a:solidFill>
            <a:srgbClr val="E5E7EB"/>
          </a:solidFill>
          <a:ln w="12700">
            <a:miter lim="400000"/>
          </a:ln>
        </p:spPr>
        <p:txBody>
          <a:bodyPr lIns="45719" rIns="45719"/>
          <a:lstStyle/>
          <a:p>
            <a:endParaRPr/>
          </a:p>
        </p:txBody>
      </p:sp>
      <p:sp>
        <p:nvSpPr>
          <p:cNvPr id="41" name="Text 3"/>
          <p:cNvSpPr txBox="1"/>
          <p:nvPr/>
        </p:nvSpPr>
        <p:spPr>
          <a:xfrm>
            <a:off x="609905" y="580323"/>
            <a:ext cx="1696212" cy="4304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700" b="1">
                <a:solidFill>
                  <a:srgbClr val="111827"/>
                </a:solidFill>
                <a:latin typeface="Noto Serif KR"/>
                <a:ea typeface="Noto Serif KR"/>
                <a:cs typeface="Noto Serif KR"/>
                <a:sym typeface="Noto Serif KR"/>
              </a:defRPr>
            </a:lvl1pPr>
          </a:lstStyle>
          <a:p>
            <a:r>
              <a:t>전시 개요</a:t>
            </a:r>
          </a:p>
        </p:txBody>
      </p:sp>
      <p:sp>
        <p:nvSpPr>
          <p:cNvPr id="42" name="Shape 4"/>
          <p:cNvSpPr/>
          <p:nvPr/>
        </p:nvSpPr>
        <p:spPr>
          <a:xfrm>
            <a:off x="2267762" y="685800"/>
            <a:ext cx="12701" cy="228600"/>
          </a:xfrm>
          <a:prstGeom prst="rect">
            <a:avLst/>
          </a:prstGeom>
          <a:solidFill>
            <a:srgbClr val="D1D5DB"/>
          </a:solidFill>
          <a:ln w="12700">
            <a:miter lim="400000"/>
          </a:ln>
        </p:spPr>
        <p:txBody>
          <a:bodyPr lIns="45719" rIns="45719"/>
          <a:lstStyle/>
          <a:p>
            <a:endParaRPr/>
          </a:p>
        </p:txBody>
      </p:sp>
      <p:sp>
        <p:nvSpPr>
          <p:cNvPr id="43" name="Text 5"/>
          <p:cNvSpPr txBox="1"/>
          <p:nvPr/>
        </p:nvSpPr>
        <p:spPr>
          <a:xfrm>
            <a:off x="2507284" y="724356"/>
            <a:ext cx="1519734" cy="152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6B7280"/>
                </a:solidFill>
                <a:latin typeface="Noto Sans KR"/>
                <a:ea typeface="Noto Sans KR"/>
                <a:cs typeface="Noto Sans KR"/>
                <a:sym typeface="Noto Sans KR"/>
              </a:defRPr>
            </a:lvl1pPr>
          </a:lstStyle>
          <a:p>
            <a:r>
              <a:t>EXHIBITION OVERVIEW</a:t>
            </a:r>
          </a:p>
        </p:txBody>
      </p:sp>
      <p:sp>
        <p:nvSpPr>
          <p:cNvPr id="44" name="Shape 6"/>
          <p:cNvSpPr/>
          <p:nvPr/>
        </p:nvSpPr>
        <p:spPr>
          <a:xfrm>
            <a:off x="11391595" y="761694"/>
            <a:ext cx="75896" cy="75896"/>
          </a:xfrm>
          <a:prstGeom prst="roundRect">
            <a:avLst>
              <a:gd name="adj" fmla="val 50000"/>
            </a:avLst>
          </a:prstGeom>
          <a:solidFill>
            <a:srgbClr val="D1D5DB"/>
          </a:solidFill>
          <a:ln w="12700">
            <a:miter lim="400000"/>
          </a:ln>
        </p:spPr>
        <p:txBody>
          <a:bodyPr lIns="45719" rIns="45719"/>
          <a:lstStyle/>
          <a:p>
            <a:endParaRPr/>
          </a:p>
        </p:txBody>
      </p:sp>
      <p:sp>
        <p:nvSpPr>
          <p:cNvPr id="45" name="Shape 7"/>
          <p:cNvSpPr/>
          <p:nvPr/>
        </p:nvSpPr>
        <p:spPr>
          <a:xfrm>
            <a:off x="11505895" y="761694"/>
            <a:ext cx="75896" cy="75896"/>
          </a:xfrm>
          <a:prstGeom prst="roundRect">
            <a:avLst>
              <a:gd name="adj" fmla="val 50000"/>
            </a:avLst>
          </a:prstGeom>
          <a:solidFill>
            <a:srgbClr val="1F2937"/>
          </a:solidFill>
          <a:ln w="12700">
            <a:miter lim="400000"/>
          </a:ln>
        </p:spPr>
        <p:txBody>
          <a:bodyPr lIns="45719" rIns="45719"/>
          <a:lstStyle/>
          <a:p>
            <a:endParaRPr/>
          </a:p>
        </p:txBody>
      </p:sp>
      <p:sp>
        <p:nvSpPr>
          <p:cNvPr id="46" name="Text 8"/>
          <p:cNvSpPr txBox="1"/>
          <p:nvPr/>
        </p:nvSpPr>
        <p:spPr>
          <a:xfrm>
            <a:off x="609905" y="1687626"/>
            <a:ext cx="1228954"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EXHIBITION TITLE</a:t>
            </a:r>
          </a:p>
        </p:txBody>
      </p:sp>
      <p:sp>
        <p:nvSpPr>
          <p:cNvPr id="47" name="Text 9"/>
          <p:cNvSpPr txBox="1"/>
          <p:nvPr/>
        </p:nvSpPr>
        <p:spPr>
          <a:xfrm>
            <a:off x="609905" y="1949727"/>
            <a:ext cx="2691079" cy="349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200" b="1">
                <a:solidFill>
                  <a:srgbClr val="111827"/>
                </a:solidFill>
                <a:latin typeface="Noto Serif KR"/>
                <a:ea typeface="Noto Serif KR"/>
                <a:cs typeface="Noto Serif KR"/>
                <a:sym typeface="Noto Serif KR"/>
              </a:defRPr>
            </a:lvl1pPr>
          </a:lstStyle>
          <a:p>
            <a:r>
              <a:t>당신을 위한 나의 틈</a:t>
            </a:r>
          </a:p>
        </p:txBody>
      </p:sp>
      <p:sp>
        <p:nvSpPr>
          <p:cNvPr id="48" name="Text 10"/>
          <p:cNvSpPr txBox="1"/>
          <p:nvPr/>
        </p:nvSpPr>
        <p:spPr>
          <a:xfrm>
            <a:off x="609905" y="2405025"/>
            <a:ext cx="967436" cy="152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4B5563"/>
                </a:solidFill>
                <a:latin typeface="Noto Sans KR"/>
                <a:ea typeface="Noto Sans KR"/>
                <a:cs typeface="Noto Sans KR"/>
                <a:sym typeface="Noto Sans KR"/>
              </a:defRPr>
            </a:lvl1pPr>
          </a:lstStyle>
          <a:p>
            <a:r>
              <a:t>A Gap for You</a:t>
            </a:r>
          </a:p>
        </p:txBody>
      </p:sp>
      <p:sp>
        <p:nvSpPr>
          <p:cNvPr id="49" name="Text 11"/>
          <p:cNvSpPr txBox="1"/>
          <p:nvPr/>
        </p:nvSpPr>
        <p:spPr>
          <a:xfrm>
            <a:off x="609905" y="2959557"/>
            <a:ext cx="534011"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ARTIST</a:t>
            </a:r>
          </a:p>
        </p:txBody>
      </p:sp>
      <p:sp>
        <p:nvSpPr>
          <p:cNvPr id="50" name="Shape 12"/>
          <p:cNvSpPr/>
          <p:nvPr/>
        </p:nvSpPr>
        <p:spPr>
          <a:xfrm>
            <a:off x="609905" y="3224173"/>
            <a:ext cx="19203" cy="267006"/>
          </a:xfrm>
          <a:prstGeom prst="rect">
            <a:avLst/>
          </a:prstGeom>
          <a:solidFill>
            <a:srgbClr val="111827"/>
          </a:solidFill>
          <a:ln w="12700">
            <a:miter lim="400000"/>
          </a:ln>
        </p:spPr>
        <p:txBody>
          <a:bodyPr lIns="45719" rIns="45719"/>
          <a:lstStyle/>
          <a:p>
            <a:endParaRPr/>
          </a:p>
        </p:txBody>
      </p:sp>
      <p:sp>
        <p:nvSpPr>
          <p:cNvPr id="51" name="Text 13"/>
          <p:cNvSpPr txBox="1"/>
          <p:nvPr/>
        </p:nvSpPr>
        <p:spPr>
          <a:xfrm>
            <a:off x="780897" y="3232592"/>
            <a:ext cx="2029056" cy="2419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500">
                <a:solidFill>
                  <a:srgbClr val="111827"/>
                </a:solidFill>
                <a:latin typeface="Noto Serif KR"/>
                <a:ea typeface="Noto Serif KR"/>
                <a:cs typeface="Noto Serif KR"/>
                <a:sym typeface="Noto Serif KR"/>
              </a:defRPr>
            </a:lvl1pPr>
          </a:lstStyle>
          <a:p>
            <a:r>
              <a:t>손 문 일 SON MUNIL</a:t>
            </a:r>
          </a:p>
        </p:txBody>
      </p:sp>
      <p:sp>
        <p:nvSpPr>
          <p:cNvPr id="52" name="Text 14"/>
          <p:cNvSpPr txBox="1"/>
          <p:nvPr/>
        </p:nvSpPr>
        <p:spPr>
          <a:xfrm>
            <a:off x="609905" y="3873957"/>
            <a:ext cx="409652"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DATE</a:t>
            </a:r>
          </a:p>
        </p:txBody>
      </p:sp>
      <p:sp>
        <p:nvSpPr>
          <p:cNvPr id="53" name="Text 15"/>
          <p:cNvSpPr txBox="1"/>
          <p:nvPr/>
        </p:nvSpPr>
        <p:spPr>
          <a:xfrm>
            <a:off x="609905" y="4164238"/>
            <a:ext cx="2167129" cy="2147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300">
                <a:solidFill>
                  <a:srgbClr val="1F2937"/>
                </a:solidFill>
                <a:latin typeface="Noto Sans KR"/>
                <a:ea typeface="Noto Sans KR"/>
                <a:cs typeface="Noto Sans KR"/>
                <a:sym typeface="Noto Sans KR"/>
              </a:defRPr>
            </a:lvl1pPr>
          </a:lstStyle>
          <a:p>
            <a:r>
              <a:t>2025. 1. 8 (수) — 1. 31 (금)</a:t>
            </a:r>
          </a:p>
        </p:txBody>
      </p:sp>
      <p:sp>
        <p:nvSpPr>
          <p:cNvPr id="54" name="Text 16"/>
          <p:cNvSpPr txBox="1"/>
          <p:nvPr/>
        </p:nvSpPr>
        <p:spPr>
          <a:xfrm>
            <a:off x="609905" y="4788357"/>
            <a:ext cx="514808"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VENUE</a:t>
            </a:r>
          </a:p>
        </p:txBody>
      </p:sp>
      <p:sp>
        <p:nvSpPr>
          <p:cNvPr id="55" name="Shape 17"/>
          <p:cNvSpPr/>
          <p:nvPr/>
        </p:nvSpPr>
        <p:spPr>
          <a:xfrm>
            <a:off x="609905" y="5091379"/>
            <a:ext cx="304496" cy="304496"/>
          </a:xfrm>
          <a:prstGeom prst="roundRect">
            <a:avLst>
              <a:gd name="adj" fmla="val 50000"/>
            </a:avLst>
          </a:prstGeom>
          <a:solidFill>
            <a:srgbClr val="F3F4F6"/>
          </a:solidFill>
          <a:ln w="12700">
            <a:miter lim="400000"/>
          </a:ln>
        </p:spPr>
        <p:txBody>
          <a:bodyPr lIns="45719" rIns="45719"/>
          <a:lstStyle/>
          <a:p>
            <a:endParaRPr/>
          </a:p>
        </p:txBody>
      </p:sp>
      <p:pic>
        <p:nvPicPr>
          <p:cNvPr id="56" name="Image 0" descr="Image 0"/>
          <p:cNvPicPr>
            <a:picLocks noChangeAspect="1"/>
          </p:cNvPicPr>
          <p:nvPr/>
        </p:nvPicPr>
        <p:blipFill>
          <a:blip r:embed="rId2"/>
          <a:stretch>
            <a:fillRect/>
          </a:stretch>
        </p:blipFill>
        <p:spPr>
          <a:xfrm>
            <a:off x="712089" y="5176418"/>
            <a:ext cx="100126" cy="133503"/>
          </a:xfrm>
          <a:prstGeom prst="rect">
            <a:avLst/>
          </a:prstGeom>
          <a:ln w="12700">
            <a:miter lim="400000"/>
          </a:ln>
        </p:spPr>
      </p:pic>
      <p:sp>
        <p:nvSpPr>
          <p:cNvPr id="57" name="Text 18"/>
          <p:cNvSpPr txBox="1"/>
          <p:nvPr/>
        </p:nvSpPr>
        <p:spPr>
          <a:xfrm>
            <a:off x="1028700" y="5078638"/>
            <a:ext cx="1224383" cy="2147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300">
                <a:solidFill>
                  <a:srgbClr val="111827"/>
                </a:solidFill>
                <a:latin typeface="Noto Serif KR"/>
                <a:ea typeface="Noto Serif KR"/>
                <a:cs typeface="Noto Serif KR"/>
                <a:sym typeface="Noto Serif KR"/>
              </a:defRPr>
            </a:lvl1pPr>
          </a:lstStyle>
          <a:p>
            <a:r>
              <a:t>관훈갤러리 3F</a:t>
            </a:r>
          </a:p>
        </p:txBody>
      </p:sp>
      <p:sp>
        <p:nvSpPr>
          <p:cNvPr id="58" name="Text 19"/>
          <p:cNvSpPr txBox="1"/>
          <p:nvPr/>
        </p:nvSpPr>
        <p:spPr>
          <a:xfrm>
            <a:off x="1028700" y="5372378"/>
            <a:ext cx="1595628" cy="161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6B7280"/>
                </a:solidFill>
                <a:latin typeface="Noto Sans KR"/>
                <a:ea typeface="Noto Sans KR"/>
                <a:cs typeface="Noto Sans KR"/>
                <a:sym typeface="Noto Sans KR"/>
              </a:defRPr>
            </a:lvl1pPr>
          </a:lstStyle>
          <a:p>
            <a:r>
              <a:t>서울시 종로구 인사동길 11</a:t>
            </a:r>
          </a:p>
        </p:txBody>
      </p:sp>
      <p:sp>
        <p:nvSpPr>
          <p:cNvPr id="59" name="Shape 20"/>
          <p:cNvSpPr/>
          <p:nvPr/>
        </p:nvSpPr>
        <p:spPr>
          <a:xfrm>
            <a:off x="4470501" y="1686154"/>
            <a:ext cx="7114948" cy="2885846"/>
          </a:xfrm>
          <a:prstGeom prst="roundRect">
            <a:avLst>
              <a:gd name="adj" fmla="val 837"/>
            </a:avLst>
          </a:prstGeom>
          <a:solidFill>
            <a:srgbClr val="FFFFFF"/>
          </a:solidFill>
          <a:ln w="12700">
            <a:solidFill>
              <a:srgbClr val="F3F4F6"/>
            </a:solidFill>
          </a:ln>
          <a:effectLst>
            <a:outerShdw blurRad="63500" dist="38100" dir="5400000" rotWithShape="0">
              <a:srgbClr val="000000">
                <a:alpha val="5000"/>
              </a:srgbClr>
            </a:outerShdw>
          </a:effectLst>
        </p:spPr>
        <p:txBody>
          <a:bodyPr lIns="45719" rIns="45719"/>
          <a:lstStyle/>
          <a:p>
            <a:endParaRPr/>
          </a:p>
        </p:txBody>
      </p:sp>
      <p:sp>
        <p:nvSpPr>
          <p:cNvPr id="60" name="Shape 21"/>
          <p:cNvSpPr/>
          <p:nvPr/>
        </p:nvSpPr>
        <p:spPr>
          <a:xfrm>
            <a:off x="4479645" y="1695298"/>
            <a:ext cx="38406" cy="2866645"/>
          </a:xfrm>
          <a:prstGeom prst="rect">
            <a:avLst/>
          </a:prstGeom>
          <a:solidFill>
            <a:srgbClr val="111827"/>
          </a:solidFill>
          <a:ln w="12700">
            <a:miter lim="400000"/>
          </a:ln>
        </p:spPr>
        <p:txBody>
          <a:bodyPr lIns="45719" rIns="45719"/>
          <a:lstStyle/>
          <a:p>
            <a:endParaRPr/>
          </a:p>
        </p:txBody>
      </p:sp>
      <p:sp>
        <p:nvSpPr>
          <p:cNvPr id="61" name="Shape 22"/>
          <p:cNvSpPr/>
          <p:nvPr/>
        </p:nvSpPr>
        <p:spPr>
          <a:xfrm>
            <a:off x="10429646" y="3414369"/>
            <a:ext cx="1524306" cy="1524306"/>
          </a:xfrm>
          <a:prstGeom prst="roundRect">
            <a:avLst>
              <a:gd name="adj" fmla="val 50000"/>
            </a:avLst>
          </a:prstGeom>
          <a:solidFill>
            <a:srgbClr val="F9FAFB">
              <a:alpha val="50000"/>
            </a:srgbClr>
          </a:solidFill>
          <a:ln w="12700">
            <a:miter lim="400000"/>
          </a:ln>
        </p:spPr>
        <p:txBody>
          <a:bodyPr lIns="45719" rIns="45719"/>
          <a:lstStyle/>
          <a:p>
            <a:endParaRPr/>
          </a:p>
        </p:txBody>
      </p:sp>
      <p:sp>
        <p:nvSpPr>
          <p:cNvPr id="62" name="Shape 23"/>
          <p:cNvSpPr/>
          <p:nvPr/>
        </p:nvSpPr>
        <p:spPr>
          <a:xfrm>
            <a:off x="4470501" y="4796028"/>
            <a:ext cx="7114948" cy="1962303"/>
          </a:xfrm>
          <a:prstGeom prst="roundRect">
            <a:avLst>
              <a:gd name="adj" fmla="val 1810"/>
            </a:avLst>
          </a:prstGeom>
          <a:solidFill>
            <a:srgbClr val="F9FAFB"/>
          </a:solidFill>
          <a:ln w="12700">
            <a:solidFill>
              <a:srgbClr val="F3F4F6"/>
            </a:solidFill>
          </a:ln>
        </p:spPr>
        <p:txBody>
          <a:bodyPr lIns="45719" rIns="45719"/>
          <a:lstStyle/>
          <a:p>
            <a:endParaRPr/>
          </a:p>
        </p:txBody>
      </p:sp>
      <p:sp>
        <p:nvSpPr>
          <p:cNvPr id="63" name="Text 24"/>
          <p:cNvSpPr txBox="1"/>
          <p:nvPr/>
        </p:nvSpPr>
        <p:spPr>
          <a:xfrm>
            <a:off x="4785054" y="5129936"/>
            <a:ext cx="1491387" cy="152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b="1">
                <a:solidFill>
                  <a:srgbClr val="1F2937"/>
                </a:solidFill>
                <a:latin typeface="Noto Sans KR"/>
                <a:ea typeface="Noto Sans KR"/>
                <a:cs typeface="Noto Sans KR"/>
                <a:sym typeface="Noto Sans KR"/>
              </a:defRPr>
            </a:lvl1pPr>
          </a:lstStyle>
          <a:p>
            <a:r>
              <a:t>FEATURED SERIES</a:t>
            </a:r>
          </a:p>
        </p:txBody>
      </p:sp>
      <p:sp>
        <p:nvSpPr>
          <p:cNvPr id="64" name="Shape 25"/>
          <p:cNvSpPr/>
          <p:nvPr/>
        </p:nvSpPr>
        <p:spPr>
          <a:xfrm>
            <a:off x="10049256" y="5199328"/>
            <a:ext cx="1218896" cy="12701"/>
          </a:xfrm>
          <a:prstGeom prst="rect">
            <a:avLst/>
          </a:prstGeom>
          <a:solidFill>
            <a:srgbClr val="E5E7EB"/>
          </a:solidFill>
          <a:ln w="12700">
            <a:miter lim="400000"/>
          </a:ln>
        </p:spPr>
        <p:txBody>
          <a:bodyPr lIns="45719" rIns="45719"/>
          <a:lstStyle/>
          <a:p>
            <a:endParaRPr/>
          </a:p>
        </p:txBody>
      </p:sp>
      <p:sp>
        <p:nvSpPr>
          <p:cNvPr id="65" name="Shape 26"/>
          <p:cNvSpPr/>
          <p:nvPr/>
        </p:nvSpPr>
        <p:spPr>
          <a:xfrm>
            <a:off x="4785054" y="5529376"/>
            <a:ext cx="1086308" cy="400508"/>
          </a:xfrm>
          <a:prstGeom prst="roundRect">
            <a:avLst>
              <a:gd name="adj" fmla="val 21744"/>
            </a:avLst>
          </a:prstGeom>
          <a:solidFill>
            <a:srgbClr val="FFFFFF"/>
          </a:solidFill>
          <a:ln w="12700">
            <a:solidFill>
              <a:srgbClr val="E5E7EB"/>
            </a:solidFill>
          </a:ln>
          <a:effectLst>
            <a:outerShdw blurRad="12700" dist="12700" dir="16200000" rotWithShape="0">
              <a:srgbClr val="000000">
                <a:alpha val="75000"/>
              </a:srgbClr>
            </a:outerShdw>
          </a:effectLst>
        </p:spPr>
        <p:txBody>
          <a:bodyPr lIns="45719" rIns="45719"/>
          <a:lstStyle/>
          <a:p>
            <a:endParaRPr/>
          </a:p>
        </p:txBody>
      </p:sp>
      <p:sp>
        <p:nvSpPr>
          <p:cNvPr id="66" name="Text 27"/>
          <p:cNvSpPr txBox="1"/>
          <p:nvPr/>
        </p:nvSpPr>
        <p:spPr>
          <a:xfrm>
            <a:off x="4984393" y="5648526"/>
            <a:ext cx="786385" cy="161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1F2937"/>
                </a:solidFill>
                <a:latin typeface="Noto Serif KR"/>
                <a:ea typeface="Noto Serif KR"/>
                <a:cs typeface="Noto Serif KR"/>
                <a:sym typeface="Noto Serif KR"/>
              </a:defRPr>
            </a:lvl1pPr>
          </a:lstStyle>
          <a:p>
            <a:r>
              <a:t>완전한 퍼즐</a:t>
            </a:r>
          </a:p>
        </p:txBody>
      </p:sp>
      <p:sp>
        <p:nvSpPr>
          <p:cNvPr id="67" name="Shape 28"/>
          <p:cNvSpPr/>
          <p:nvPr/>
        </p:nvSpPr>
        <p:spPr>
          <a:xfrm>
            <a:off x="5984747" y="5529376"/>
            <a:ext cx="1714501" cy="400508"/>
          </a:xfrm>
          <a:prstGeom prst="roundRect">
            <a:avLst>
              <a:gd name="adj" fmla="val 21744"/>
            </a:avLst>
          </a:prstGeom>
          <a:solidFill>
            <a:srgbClr val="FFFFFF"/>
          </a:solidFill>
          <a:ln w="12700">
            <a:solidFill>
              <a:srgbClr val="E5E7EB"/>
            </a:solidFill>
          </a:ln>
          <a:effectLst>
            <a:outerShdw blurRad="12700" dist="12700" dir="16200000" rotWithShape="0">
              <a:srgbClr val="000000">
                <a:alpha val="75000"/>
              </a:srgbClr>
            </a:outerShdw>
          </a:effectLst>
        </p:spPr>
        <p:txBody>
          <a:bodyPr lIns="45719" rIns="45719"/>
          <a:lstStyle/>
          <a:p>
            <a:endParaRPr/>
          </a:p>
        </p:txBody>
      </p:sp>
      <p:sp>
        <p:nvSpPr>
          <p:cNvPr id="68" name="Text 29"/>
          <p:cNvSpPr txBox="1"/>
          <p:nvPr/>
        </p:nvSpPr>
        <p:spPr>
          <a:xfrm>
            <a:off x="6185001" y="5652973"/>
            <a:ext cx="1414578" cy="152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1F2937"/>
                </a:solidFill>
                <a:latin typeface="Noto Serif KR"/>
                <a:ea typeface="Noto Serif KR"/>
                <a:cs typeface="Noto Serif KR"/>
                <a:sym typeface="Noto Serif KR"/>
              </a:defRPr>
            </a:lvl1pPr>
          </a:lstStyle>
          <a:p>
            <a:r>
              <a:t>No man is an Island</a:t>
            </a:r>
          </a:p>
        </p:txBody>
      </p:sp>
      <p:sp>
        <p:nvSpPr>
          <p:cNvPr id="69" name="Shape 30"/>
          <p:cNvSpPr/>
          <p:nvPr/>
        </p:nvSpPr>
        <p:spPr>
          <a:xfrm>
            <a:off x="7812633" y="5529376"/>
            <a:ext cx="1086309" cy="400508"/>
          </a:xfrm>
          <a:prstGeom prst="roundRect">
            <a:avLst>
              <a:gd name="adj" fmla="val 21744"/>
            </a:avLst>
          </a:prstGeom>
          <a:solidFill>
            <a:srgbClr val="FFFFFF"/>
          </a:solidFill>
          <a:ln w="12700">
            <a:solidFill>
              <a:srgbClr val="E5E7EB"/>
            </a:solidFill>
          </a:ln>
          <a:effectLst>
            <a:outerShdw blurRad="12700" dist="12700" dir="16200000" rotWithShape="0">
              <a:srgbClr val="000000">
                <a:alpha val="75000"/>
              </a:srgbClr>
            </a:outerShdw>
          </a:effectLst>
        </p:spPr>
        <p:txBody>
          <a:bodyPr lIns="45719" rIns="45719"/>
          <a:lstStyle/>
          <a:p>
            <a:endParaRPr/>
          </a:p>
        </p:txBody>
      </p:sp>
      <p:sp>
        <p:nvSpPr>
          <p:cNvPr id="70" name="Text 31"/>
          <p:cNvSpPr txBox="1"/>
          <p:nvPr/>
        </p:nvSpPr>
        <p:spPr>
          <a:xfrm>
            <a:off x="8012886" y="5648526"/>
            <a:ext cx="786385" cy="161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1F2937"/>
                </a:solidFill>
                <a:latin typeface="Noto Serif KR"/>
                <a:ea typeface="Noto Serif KR"/>
                <a:cs typeface="Noto Serif KR"/>
                <a:sym typeface="Noto Serif KR"/>
              </a:defRPr>
            </a:lvl1pPr>
          </a:lstStyle>
          <a:p>
            <a:r>
              <a:t>완전한 딱지</a:t>
            </a:r>
          </a:p>
        </p:txBody>
      </p:sp>
      <p:sp>
        <p:nvSpPr>
          <p:cNvPr id="71" name="Shape 32"/>
          <p:cNvSpPr/>
          <p:nvPr/>
        </p:nvSpPr>
        <p:spPr>
          <a:xfrm>
            <a:off x="9012325" y="5529376"/>
            <a:ext cx="1009499" cy="400508"/>
          </a:xfrm>
          <a:prstGeom prst="roundRect">
            <a:avLst>
              <a:gd name="adj" fmla="val 21744"/>
            </a:avLst>
          </a:prstGeom>
          <a:solidFill>
            <a:srgbClr val="FFFFFF"/>
          </a:solidFill>
          <a:ln w="12700">
            <a:solidFill>
              <a:srgbClr val="E5E7EB"/>
            </a:solidFill>
          </a:ln>
          <a:effectLst>
            <a:outerShdw blurRad="12700" dist="12700" dir="16200000" rotWithShape="0">
              <a:srgbClr val="000000">
                <a:alpha val="75000"/>
              </a:srgbClr>
            </a:outerShdw>
          </a:effectLst>
        </p:spPr>
        <p:txBody>
          <a:bodyPr lIns="45719" rIns="45719"/>
          <a:lstStyle/>
          <a:p>
            <a:endParaRPr/>
          </a:p>
        </p:txBody>
      </p:sp>
      <p:sp>
        <p:nvSpPr>
          <p:cNvPr id="72" name="Text 33"/>
          <p:cNvSpPr txBox="1"/>
          <p:nvPr/>
        </p:nvSpPr>
        <p:spPr>
          <a:xfrm>
            <a:off x="9212580" y="5652973"/>
            <a:ext cx="710490" cy="152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1F2937"/>
                </a:solidFill>
                <a:latin typeface="Noto Serif KR"/>
                <a:ea typeface="Noto Serif KR"/>
                <a:cs typeface="Noto Serif KR"/>
                <a:sym typeface="Noto Serif KR"/>
              </a:defRPr>
            </a:lvl1pPr>
          </a:lstStyle>
          <a:p>
            <a:r>
              <a:t>Lightrain</a:t>
            </a:r>
          </a:p>
        </p:txBody>
      </p:sp>
      <p:sp>
        <p:nvSpPr>
          <p:cNvPr id="73" name="Shape 34"/>
          <p:cNvSpPr/>
          <p:nvPr/>
        </p:nvSpPr>
        <p:spPr>
          <a:xfrm>
            <a:off x="4785054" y="6043269"/>
            <a:ext cx="1228955" cy="400508"/>
          </a:xfrm>
          <a:prstGeom prst="roundRect">
            <a:avLst>
              <a:gd name="adj" fmla="val 21744"/>
            </a:avLst>
          </a:prstGeom>
          <a:solidFill>
            <a:srgbClr val="FFFFFF"/>
          </a:solidFill>
          <a:ln w="12700">
            <a:solidFill>
              <a:srgbClr val="E5E7EB"/>
            </a:solidFill>
          </a:ln>
          <a:effectLst>
            <a:outerShdw blurRad="12700" dist="12700" dir="16200000" rotWithShape="0">
              <a:srgbClr val="000000">
                <a:alpha val="75000"/>
              </a:srgbClr>
            </a:outerShdw>
          </a:effectLst>
        </p:spPr>
        <p:txBody>
          <a:bodyPr lIns="45719" rIns="45719"/>
          <a:lstStyle/>
          <a:p>
            <a:endParaRPr/>
          </a:p>
        </p:txBody>
      </p:sp>
      <p:sp>
        <p:nvSpPr>
          <p:cNvPr id="74" name="Text 35"/>
          <p:cNvSpPr txBox="1"/>
          <p:nvPr/>
        </p:nvSpPr>
        <p:spPr>
          <a:xfrm>
            <a:off x="4984393" y="6167780"/>
            <a:ext cx="929031" cy="152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1F2937"/>
                </a:solidFill>
                <a:latin typeface="Noto Serif KR"/>
                <a:ea typeface="Noto Serif KR"/>
                <a:cs typeface="Noto Serif KR"/>
                <a:sym typeface="Noto Serif KR"/>
              </a:defRPr>
            </a:lvl1pPr>
          </a:lstStyle>
          <a:p>
            <a:r>
              <a:t>Relationship</a:t>
            </a:r>
          </a:p>
        </p:txBody>
      </p:sp>
      <p:sp>
        <p:nvSpPr>
          <p:cNvPr id="75" name="Text 36"/>
          <p:cNvSpPr txBox="1"/>
          <p:nvPr/>
        </p:nvSpPr>
        <p:spPr>
          <a:xfrm>
            <a:off x="9455809" y="5365597"/>
            <a:ext cx="3353106" cy="1460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600" b="1">
                <a:solidFill>
                  <a:srgbClr val="111827">
                    <a:alpha val="5000"/>
                  </a:srgbClr>
                </a:solidFill>
                <a:latin typeface="Noto Serif KR"/>
                <a:ea typeface="Noto Serif KR"/>
                <a:cs typeface="Noto Serif KR"/>
                <a:sym typeface="Noto Serif KR"/>
              </a:defRPr>
            </a:lvl1pPr>
          </a:lstStyle>
          <a:p>
            <a:r>
              <a:t>GAP</a:t>
            </a:r>
          </a:p>
        </p:txBody>
      </p:sp>
      <p:pic>
        <p:nvPicPr>
          <p:cNvPr id="76" name="Image 1" descr="Image 1"/>
          <p:cNvPicPr>
            <a:picLocks noChangeAspect="1"/>
          </p:cNvPicPr>
          <p:nvPr/>
        </p:nvPicPr>
        <p:blipFill>
          <a:blip r:embed="rId3"/>
          <a:stretch>
            <a:fillRect/>
          </a:stretch>
        </p:blipFill>
        <p:spPr>
          <a:xfrm>
            <a:off x="4863179" y="2076601"/>
            <a:ext cx="300037" cy="342901"/>
          </a:xfrm>
          <a:prstGeom prst="rect">
            <a:avLst/>
          </a:prstGeom>
          <a:ln w="12700">
            <a:miter lim="400000"/>
          </a:ln>
        </p:spPr>
      </p:pic>
      <p:sp>
        <p:nvSpPr>
          <p:cNvPr id="77" name="Text 37"/>
          <p:cNvSpPr txBox="1"/>
          <p:nvPr/>
        </p:nvSpPr>
        <p:spPr>
          <a:xfrm>
            <a:off x="5318150" y="2122511"/>
            <a:ext cx="943662" cy="2419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500" b="1">
                <a:solidFill>
                  <a:srgbClr val="111827"/>
                </a:solidFill>
                <a:latin typeface="Noto Serif KR"/>
                <a:ea typeface="Noto Serif KR"/>
                <a:cs typeface="Noto Serif KR"/>
                <a:sym typeface="Noto Serif KR"/>
              </a:defRPr>
            </a:lvl1pPr>
          </a:lstStyle>
          <a:p>
            <a:r>
              <a:t>전시 컨셉</a:t>
            </a:r>
          </a:p>
        </p:txBody>
      </p:sp>
      <p:sp>
        <p:nvSpPr>
          <p:cNvPr id="78" name="Text 38"/>
          <p:cNvSpPr txBox="1"/>
          <p:nvPr/>
        </p:nvSpPr>
        <p:spPr>
          <a:xfrm>
            <a:off x="4860950" y="2709490"/>
            <a:ext cx="6358739" cy="4295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300">
                <a:solidFill>
                  <a:srgbClr val="1F2937"/>
                </a:solidFill>
                <a:latin typeface="Noto Serif KR"/>
                <a:ea typeface="Noto Serif KR"/>
                <a:cs typeface="Noto Serif KR"/>
                <a:sym typeface="Noto Serif KR"/>
              </a:defRPr>
            </a:lvl1pPr>
          </a:lstStyle>
          <a:p>
            <a:r>
              <a:t>손문일 작가의 개인전 《당신을 위한 나의 틈》은 갈라진 상처와 균열이 당신을 향한 소통의 통로가 된다는 관계의 미학을 탐구합니다.</a:t>
            </a:r>
          </a:p>
        </p:txBody>
      </p:sp>
      <p:sp>
        <p:nvSpPr>
          <p:cNvPr id="79" name="Text 39"/>
          <p:cNvSpPr txBox="1"/>
          <p:nvPr/>
        </p:nvSpPr>
        <p:spPr>
          <a:xfrm>
            <a:off x="4860950" y="3519982"/>
            <a:ext cx="6449264" cy="571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a:solidFill>
                  <a:srgbClr val="4B5563"/>
                </a:solidFill>
                <a:latin typeface="Noto Sans KR"/>
                <a:ea typeface="Noto Sans KR"/>
                <a:cs typeface="Noto Sans KR"/>
                <a:sym typeface="Noto Sans KR"/>
              </a:defRPr>
            </a:lvl1pPr>
          </a:lstStyle>
          <a:p>
            <a:r>
              <a:t>단단한 백토가 갈라지며 생겨난 틈은 더 이상 아픔의 흔적이 아닙니다. 그것은 닫혀있던 내면이 외부를 향해 열리는 순간이며, 그 사이로 스며든 빛이 당신과 나를 연결하는 따스한 매개체가 됩니다. 작가는 이 내밀한 '틈'을 통해 치유와 공감의 언어를 건넵니다.</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hape 0"/>
          <p:cNvSpPr/>
          <p:nvPr/>
        </p:nvSpPr>
        <p:spPr>
          <a:xfrm>
            <a:off x="-1" y="0"/>
            <a:ext cx="12191697" cy="6858000"/>
          </a:xfrm>
          <a:prstGeom prst="rect">
            <a:avLst/>
          </a:prstGeom>
          <a:solidFill>
            <a:srgbClr val="F3F4F6"/>
          </a:solidFill>
          <a:ln w="12700">
            <a:miter lim="400000"/>
          </a:ln>
        </p:spPr>
        <p:txBody>
          <a:bodyPr lIns="45719" rIns="45719"/>
          <a:lstStyle/>
          <a:p>
            <a:endParaRPr/>
          </a:p>
        </p:txBody>
      </p:sp>
      <p:sp>
        <p:nvSpPr>
          <p:cNvPr id="82" name="Shape 1"/>
          <p:cNvSpPr/>
          <p:nvPr/>
        </p:nvSpPr>
        <p:spPr>
          <a:xfrm>
            <a:off x="-1" y="0"/>
            <a:ext cx="12191697" cy="6858000"/>
          </a:xfrm>
          <a:prstGeom prst="rect">
            <a:avLst/>
          </a:prstGeom>
          <a:solidFill>
            <a:srgbClr val="FFFFFF"/>
          </a:solidFill>
          <a:ln w="12700">
            <a:miter lim="400000"/>
          </a:ln>
        </p:spPr>
        <p:txBody>
          <a:bodyPr lIns="45719" rIns="45719"/>
          <a:lstStyle/>
          <a:p>
            <a:endParaRPr/>
          </a:p>
        </p:txBody>
      </p:sp>
      <p:sp>
        <p:nvSpPr>
          <p:cNvPr id="83" name="Shape 2"/>
          <p:cNvSpPr/>
          <p:nvPr/>
        </p:nvSpPr>
        <p:spPr>
          <a:xfrm>
            <a:off x="0" y="0"/>
            <a:ext cx="5086807" cy="6858000"/>
          </a:xfrm>
          <a:prstGeom prst="rect">
            <a:avLst/>
          </a:prstGeom>
          <a:solidFill>
            <a:srgbClr val="F3F4F6"/>
          </a:solidFill>
          <a:ln w="12700">
            <a:miter lim="400000"/>
          </a:ln>
        </p:spPr>
        <p:txBody>
          <a:bodyPr lIns="45719" rIns="45719"/>
          <a:lstStyle/>
          <a:p>
            <a:endParaRPr/>
          </a:p>
        </p:txBody>
      </p:sp>
      <p:sp>
        <p:nvSpPr>
          <p:cNvPr id="84" name="Shape 3"/>
          <p:cNvSpPr/>
          <p:nvPr/>
        </p:nvSpPr>
        <p:spPr>
          <a:xfrm>
            <a:off x="5075884" y="0"/>
            <a:ext cx="12701" cy="6858000"/>
          </a:xfrm>
          <a:prstGeom prst="rect">
            <a:avLst/>
          </a:prstGeom>
          <a:solidFill>
            <a:srgbClr val="F3F4F6"/>
          </a:solidFill>
          <a:ln w="12700">
            <a:miter lim="400000"/>
          </a:ln>
        </p:spPr>
        <p:txBody>
          <a:bodyPr lIns="45719" rIns="45719"/>
          <a:lstStyle/>
          <a:p>
            <a:endParaRPr/>
          </a:p>
        </p:txBody>
      </p:sp>
      <p:pic>
        <p:nvPicPr>
          <p:cNvPr id="85" name="Image 0" descr="Image 0"/>
          <p:cNvPicPr>
            <a:picLocks noChangeAspect="1"/>
          </p:cNvPicPr>
          <p:nvPr/>
        </p:nvPicPr>
        <p:blipFill>
          <a:blip r:embed="rId2"/>
          <a:srcRect l="2917" r="2916"/>
          <a:stretch>
            <a:fillRect/>
          </a:stretch>
        </p:blipFill>
        <p:spPr>
          <a:xfrm>
            <a:off x="-1" y="0"/>
            <a:ext cx="5076751" cy="6858000"/>
          </a:xfrm>
          <a:prstGeom prst="rect">
            <a:avLst/>
          </a:prstGeom>
          <a:ln w="12700">
            <a:miter lim="400000"/>
          </a:ln>
        </p:spPr>
      </p:pic>
      <p:sp>
        <p:nvSpPr>
          <p:cNvPr id="86" name="Text 4"/>
          <p:cNvSpPr txBox="1"/>
          <p:nvPr/>
        </p:nvSpPr>
        <p:spPr>
          <a:xfrm>
            <a:off x="304495" y="6381749"/>
            <a:ext cx="2510028" cy="152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FFFFFF">
                    <a:alpha val="90000"/>
                  </a:srgbClr>
                </a:solidFill>
                <a:latin typeface="Noto Serif KR"/>
                <a:ea typeface="Noto Serif KR"/>
                <a:cs typeface="Noto Serif KR"/>
                <a:sym typeface="Noto Serif KR"/>
              </a:defRPr>
            </a:lvl1pPr>
          </a:lstStyle>
          <a:p>
            <a:r>
              <a:t>Perfect Puzzle Series, Mixed Media</a:t>
            </a:r>
          </a:p>
        </p:txBody>
      </p:sp>
      <p:sp>
        <p:nvSpPr>
          <p:cNvPr id="87" name="Text 5"/>
          <p:cNvSpPr txBox="1"/>
          <p:nvPr/>
        </p:nvSpPr>
        <p:spPr>
          <a:xfrm>
            <a:off x="304494" y="6174587"/>
            <a:ext cx="1162204"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FFFFFF">
                    <a:alpha val="63000"/>
                  </a:srgbClr>
                </a:solidFill>
                <a:latin typeface="Noto Sans KR"/>
                <a:ea typeface="Noto Sans KR"/>
                <a:cs typeface="Noto Sans KR"/>
                <a:sym typeface="Noto Sans KR"/>
              </a:defRPr>
            </a:lvl1pPr>
          </a:lstStyle>
          <a:p>
            <a:r>
              <a:t>FEATURED WORK</a:t>
            </a:r>
          </a:p>
        </p:txBody>
      </p:sp>
      <p:sp>
        <p:nvSpPr>
          <p:cNvPr id="88" name="Shape 6"/>
          <p:cNvSpPr/>
          <p:nvPr/>
        </p:nvSpPr>
        <p:spPr>
          <a:xfrm>
            <a:off x="10972800" y="609905"/>
            <a:ext cx="609906" cy="609906"/>
          </a:xfrm>
          <a:prstGeom prst="rect">
            <a:avLst/>
          </a:prstGeom>
          <a:ln w="25400">
            <a:solidFill>
              <a:srgbClr val="F3F4F6"/>
            </a:solidFill>
          </a:ln>
        </p:spPr>
        <p:txBody>
          <a:bodyPr lIns="45719" rIns="45719"/>
          <a:lstStyle/>
          <a:p>
            <a:endParaRPr/>
          </a:p>
        </p:txBody>
      </p:sp>
      <p:sp>
        <p:nvSpPr>
          <p:cNvPr id="89" name="Shape 7"/>
          <p:cNvSpPr/>
          <p:nvPr/>
        </p:nvSpPr>
        <p:spPr>
          <a:xfrm>
            <a:off x="5689396" y="497484"/>
            <a:ext cx="381306" cy="12701"/>
          </a:xfrm>
          <a:prstGeom prst="rect">
            <a:avLst/>
          </a:prstGeom>
          <a:solidFill>
            <a:srgbClr val="1F2937"/>
          </a:solidFill>
          <a:ln w="12700">
            <a:miter lim="400000"/>
          </a:ln>
        </p:spPr>
        <p:txBody>
          <a:bodyPr lIns="45719" rIns="45719"/>
          <a:lstStyle/>
          <a:p>
            <a:endParaRPr/>
          </a:p>
        </p:txBody>
      </p:sp>
      <p:sp>
        <p:nvSpPr>
          <p:cNvPr id="90" name="Text 8"/>
          <p:cNvSpPr txBox="1"/>
          <p:nvPr/>
        </p:nvSpPr>
        <p:spPr>
          <a:xfrm>
            <a:off x="6223406" y="429412"/>
            <a:ext cx="1181406"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b="1">
                <a:solidFill>
                  <a:srgbClr val="6B7280"/>
                </a:solidFill>
                <a:latin typeface="Noto Sans KR"/>
                <a:ea typeface="Noto Sans KR"/>
                <a:cs typeface="Noto Sans KR"/>
                <a:sym typeface="Noto Sans KR"/>
              </a:defRPr>
            </a:lvl1pPr>
          </a:lstStyle>
          <a:p>
            <a:r>
              <a:t>ARTIST STATEMENT</a:t>
            </a:r>
          </a:p>
        </p:txBody>
      </p:sp>
      <p:sp>
        <p:nvSpPr>
          <p:cNvPr id="91" name="Text 9"/>
          <p:cNvSpPr txBox="1"/>
          <p:nvPr/>
        </p:nvSpPr>
        <p:spPr>
          <a:xfrm>
            <a:off x="5689396" y="895548"/>
            <a:ext cx="1895552" cy="5781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3600" b="1">
                <a:solidFill>
                  <a:srgbClr val="111827"/>
                </a:solidFill>
                <a:latin typeface="Noto Serif KR"/>
                <a:ea typeface="Noto Serif KR"/>
                <a:cs typeface="Noto Serif KR"/>
                <a:sym typeface="Noto Serif KR"/>
              </a:defRPr>
            </a:lvl1pPr>
          </a:lstStyle>
          <a:p>
            <a:r>
              <a:t>손 문 일</a:t>
            </a:r>
          </a:p>
        </p:txBody>
      </p:sp>
      <p:sp>
        <p:nvSpPr>
          <p:cNvPr id="92" name="Text 10"/>
          <p:cNvSpPr txBox="1"/>
          <p:nvPr/>
        </p:nvSpPr>
        <p:spPr>
          <a:xfrm>
            <a:off x="5689396" y="1546707"/>
            <a:ext cx="1239013"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500">
                <a:solidFill>
                  <a:srgbClr val="4B5563"/>
                </a:solidFill>
                <a:latin typeface="Noto Sans KR"/>
                <a:ea typeface="Noto Sans KR"/>
                <a:cs typeface="Noto Sans KR"/>
                <a:sym typeface="Noto Sans KR"/>
              </a:defRPr>
            </a:lvl1pPr>
          </a:lstStyle>
          <a:p>
            <a:r>
              <a:t>SON MUNIL</a:t>
            </a:r>
          </a:p>
        </p:txBody>
      </p:sp>
      <p:sp>
        <p:nvSpPr>
          <p:cNvPr id="93" name="Shape 11"/>
          <p:cNvSpPr/>
          <p:nvPr/>
        </p:nvSpPr>
        <p:spPr>
          <a:xfrm>
            <a:off x="6894626" y="1589227"/>
            <a:ext cx="12701" cy="190196"/>
          </a:xfrm>
          <a:prstGeom prst="rect">
            <a:avLst/>
          </a:prstGeom>
          <a:solidFill>
            <a:srgbClr val="D1D5DB"/>
          </a:solidFill>
          <a:ln w="12700">
            <a:miter lim="400000"/>
          </a:ln>
        </p:spPr>
        <p:txBody>
          <a:bodyPr lIns="45719" rIns="45719"/>
          <a:lstStyle/>
          <a:p>
            <a:endParaRPr/>
          </a:p>
        </p:txBody>
      </p:sp>
      <p:sp>
        <p:nvSpPr>
          <p:cNvPr id="94" name="Text 12"/>
          <p:cNvSpPr txBox="1"/>
          <p:nvPr/>
        </p:nvSpPr>
        <p:spPr>
          <a:xfrm>
            <a:off x="7020762" y="1608582"/>
            <a:ext cx="986639" cy="152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9CA3AF"/>
                </a:solidFill>
                <a:latin typeface="Noto Sans KR"/>
                <a:ea typeface="Noto Sans KR"/>
                <a:cs typeface="Noto Sans KR"/>
                <a:sym typeface="Noto Sans KR"/>
              </a:defRPr>
            </a:lvl1pPr>
          </a:lstStyle>
          <a:p>
            <a:r>
              <a:t>b. 1980, Seoul</a:t>
            </a:r>
          </a:p>
        </p:txBody>
      </p:sp>
      <p:sp>
        <p:nvSpPr>
          <p:cNvPr id="95" name="Shape 13"/>
          <p:cNvSpPr/>
          <p:nvPr/>
        </p:nvSpPr>
        <p:spPr>
          <a:xfrm>
            <a:off x="5689396" y="2093976"/>
            <a:ext cx="57608" cy="57608"/>
          </a:xfrm>
          <a:prstGeom prst="roundRect">
            <a:avLst>
              <a:gd name="adj" fmla="val 50000"/>
            </a:avLst>
          </a:prstGeom>
          <a:solidFill>
            <a:srgbClr val="D1D5DB"/>
          </a:solidFill>
          <a:ln w="12700">
            <a:miter lim="400000"/>
          </a:ln>
        </p:spPr>
        <p:txBody>
          <a:bodyPr lIns="45719" rIns="45719"/>
          <a:lstStyle/>
          <a:p>
            <a:endParaRPr/>
          </a:p>
        </p:txBody>
      </p:sp>
      <p:sp>
        <p:nvSpPr>
          <p:cNvPr id="96" name="Text 14"/>
          <p:cNvSpPr txBox="1"/>
          <p:nvPr/>
        </p:nvSpPr>
        <p:spPr>
          <a:xfrm>
            <a:off x="5861303" y="2042133"/>
            <a:ext cx="2052829" cy="161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6B7280"/>
                </a:solidFill>
                <a:latin typeface="Noto Sans KR"/>
                <a:ea typeface="Noto Sans KR"/>
                <a:cs typeface="Noto Sans KR"/>
                <a:sym typeface="Noto Sans KR"/>
              </a:defRPr>
            </a:lvl1pPr>
          </a:lstStyle>
          <a:p>
            <a:r>
              <a:t>서울대학교 미술대학 동양화과 졸업</a:t>
            </a:r>
          </a:p>
        </p:txBody>
      </p:sp>
      <p:sp>
        <p:nvSpPr>
          <p:cNvPr id="97" name="Shape 15"/>
          <p:cNvSpPr/>
          <p:nvPr/>
        </p:nvSpPr>
        <p:spPr>
          <a:xfrm>
            <a:off x="5689396" y="2360981"/>
            <a:ext cx="57608" cy="57608"/>
          </a:xfrm>
          <a:prstGeom prst="roundRect">
            <a:avLst>
              <a:gd name="adj" fmla="val 50000"/>
            </a:avLst>
          </a:prstGeom>
          <a:solidFill>
            <a:srgbClr val="D1D5DB"/>
          </a:solidFill>
          <a:ln w="12700">
            <a:miter lim="400000"/>
          </a:ln>
        </p:spPr>
        <p:txBody>
          <a:bodyPr lIns="45719" rIns="45719"/>
          <a:lstStyle/>
          <a:p>
            <a:endParaRPr/>
          </a:p>
        </p:txBody>
      </p:sp>
      <p:sp>
        <p:nvSpPr>
          <p:cNvPr id="98" name="Text 16"/>
          <p:cNvSpPr txBox="1"/>
          <p:nvPr/>
        </p:nvSpPr>
        <p:spPr>
          <a:xfrm>
            <a:off x="5861303" y="2309138"/>
            <a:ext cx="1815085" cy="161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6B7280"/>
                </a:solidFill>
                <a:latin typeface="Noto Sans KR"/>
                <a:ea typeface="Noto Sans KR"/>
                <a:cs typeface="Noto Sans KR"/>
                <a:sym typeface="Noto Sans KR"/>
              </a:defRPr>
            </a:lvl1pPr>
          </a:lstStyle>
          <a:p>
            <a:r>
              <a:t>베이징 중앙미술학원 벽화 전공</a:t>
            </a:r>
          </a:p>
        </p:txBody>
      </p:sp>
      <p:pic>
        <p:nvPicPr>
          <p:cNvPr id="99" name="Image 1" descr="Image 1"/>
          <p:cNvPicPr>
            <a:picLocks noChangeAspect="1"/>
          </p:cNvPicPr>
          <p:nvPr/>
        </p:nvPicPr>
        <p:blipFill>
          <a:blip r:embed="rId3"/>
          <a:stretch>
            <a:fillRect/>
          </a:stretch>
        </p:blipFill>
        <p:spPr>
          <a:xfrm>
            <a:off x="5461024" y="2789833"/>
            <a:ext cx="400052" cy="457201"/>
          </a:xfrm>
          <a:prstGeom prst="rect">
            <a:avLst/>
          </a:prstGeom>
          <a:ln w="12700">
            <a:miter lim="400000"/>
          </a:ln>
        </p:spPr>
      </p:pic>
      <p:sp>
        <p:nvSpPr>
          <p:cNvPr id="100" name="Text 17"/>
          <p:cNvSpPr txBox="1"/>
          <p:nvPr/>
        </p:nvSpPr>
        <p:spPr>
          <a:xfrm>
            <a:off x="5689396" y="3830116"/>
            <a:ext cx="5553152" cy="381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a:solidFill>
                  <a:srgbClr val="4B5563"/>
                </a:solidFill>
                <a:latin typeface="Noto Sans KR"/>
                <a:ea typeface="Noto Sans KR"/>
                <a:cs typeface="Noto Sans KR"/>
                <a:sym typeface="Noto Sans KR"/>
              </a:defRPr>
            </a:lvl1pPr>
          </a:lstStyle>
          <a:p>
            <a:r>
              <a:t>갈라진 틈은 단순히 파괴된 흔적이 아닙니다. 그것은 시간이 새겨 놓은 흉터이자, 동시에 외부의 빛이 내부로 스며들 수 있게 하는 유일한 통로입니다.</a:t>
            </a:r>
          </a:p>
        </p:txBody>
      </p:sp>
      <p:sp>
        <p:nvSpPr>
          <p:cNvPr id="101" name="Text 18"/>
          <p:cNvSpPr txBox="1"/>
          <p:nvPr/>
        </p:nvSpPr>
        <p:spPr>
          <a:xfrm>
            <a:off x="5689396" y="4649724"/>
            <a:ext cx="5553152" cy="571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a:solidFill>
                  <a:srgbClr val="4B5563"/>
                </a:solidFill>
                <a:latin typeface="Noto Sans KR"/>
                <a:ea typeface="Noto Sans KR"/>
                <a:cs typeface="Noto Sans KR"/>
                <a:sym typeface="Noto Sans KR"/>
              </a:defRPr>
            </a:lvl1pPr>
          </a:lstStyle>
          <a:p>
            <a:r>
              <a:t>나는 백토의 갈라짐과 캔버스의 물성을 통해 상처의 본질을 탐구합니다. 동서양 회화의 경계를 넘나드는 재료의 실험 속에서, 의도된 균열과 우연한 흔적들이 만나 만들어내는 '틈'은 우리 삶의 결핍이 채워지는 순간을 은유합니다.</a:t>
            </a:r>
          </a:p>
        </p:txBody>
      </p:sp>
      <p:sp>
        <p:nvSpPr>
          <p:cNvPr id="102" name="Shape 19"/>
          <p:cNvSpPr/>
          <p:nvPr/>
        </p:nvSpPr>
        <p:spPr>
          <a:xfrm>
            <a:off x="5689396" y="5847638"/>
            <a:ext cx="5896052" cy="12701"/>
          </a:xfrm>
          <a:prstGeom prst="rect">
            <a:avLst/>
          </a:prstGeom>
          <a:solidFill>
            <a:srgbClr val="F3F4F6"/>
          </a:solidFill>
          <a:ln w="12700">
            <a:miter lim="400000"/>
          </a:ln>
        </p:spPr>
        <p:txBody>
          <a:bodyPr lIns="45719" rIns="45719"/>
          <a:lstStyle/>
          <a:p>
            <a:endParaRPr/>
          </a:p>
        </p:txBody>
      </p:sp>
      <p:sp>
        <p:nvSpPr>
          <p:cNvPr id="103" name="Text 20"/>
          <p:cNvSpPr txBox="1"/>
          <p:nvPr/>
        </p:nvSpPr>
        <p:spPr>
          <a:xfrm>
            <a:off x="5689396" y="6279743"/>
            <a:ext cx="1648663"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D1D5DB"/>
                </a:solidFill>
                <a:latin typeface="Noto Sans KR"/>
                <a:ea typeface="Noto Sans KR"/>
                <a:cs typeface="Noto Sans KR"/>
                <a:sym typeface="Noto Sans KR"/>
              </a:defRPr>
            </a:lvl1pPr>
          </a:lstStyle>
          <a:p>
            <a:r>
              <a:t>ARTIST PORTFOLIO 2025</a:t>
            </a:r>
          </a:p>
        </p:txBody>
      </p:sp>
      <p:sp>
        <p:nvSpPr>
          <p:cNvPr id="104" name="Text 21"/>
          <p:cNvSpPr txBox="1"/>
          <p:nvPr/>
        </p:nvSpPr>
        <p:spPr>
          <a:xfrm>
            <a:off x="10714938" y="6195414"/>
            <a:ext cx="1004926"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300" i="1">
                <a:solidFill>
                  <a:srgbClr val="9CA3AF"/>
                </a:solidFill>
                <a:latin typeface="Noto Serif KR"/>
                <a:ea typeface="Noto Serif KR"/>
                <a:cs typeface="Noto Serif KR"/>
                <a:sym typeface="Noto Serif KR"/>
              </a:defRPr>
            </a:lvl1pPr>
          </a:lstStyle>
          <a:p>
            <a:r>
              <a:t>Son Munil</a:t>
            </a:r>
          </a:p>
        </p:txBody>
      </p:sp>
      <p:sp>
        <p:nvSpPr>
          <p:cNvPr id="105" name="Text 22"/>
          <p:cNvSpPr txBox="1"/>
          <p:nvPr/>
        </p:nvSpPr>
        <p:spPr>
          <a:xfrm>
            <a:off x="5766206" y="2958310"/>
            <a:ext cx="4224185" cy="349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200">
                <a:solidFill>
                  <a:srgbClr val="1F2937"/>
                </a:solidFill>
                <a:latin typeface="Noto Serif KR"/>
                <a:ea typeface="Noto Serif KR"/>
                <a:cs typeface="Noto Serif KR"/>
                <a:sym typeface="Noto Serif KR"/>
              </a:defRPr>
            </a:lvl1pPr>
          </a:lstStyle>
          <a:p>
            <a:r>
              <a:t>"나를 지우면 진정한 내가 드러난다.”</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 0"/>
          <p:cNvSpPr/>
          <p:nvPr/>
        </p:nvSpPr>
        <p:spPr>
          <a:xfrm>
            <a:off x="-1" y="-1"/>
            <a:ext cx="50801" cy="6858001"/>
          </a:xfrm>
          <a:prstGeom prst="rect">
            <a:avLst/>
          </a:prstGeom>
          <a:solidFill>
            <a:srgbClr val="C9A962"/>
          </a:solidFill>
          <a:ln w="12700">
            <a:miter lim="400000"/>
          </a:ln>
        </p:spPr>
        <p:txBody>
          <a:bodyPr lIns="60959" tIns="60959" rIns="60959" bIns="60959" anchor="ctr"/>
          <a:lstStyle/>
          <a:p>
            <a:pPr defTabSz="1219200">
              <a:defRPr sz="2400"/>
            </a:pPr>
            <a:endParaRPr/>
          </a:p>
        </p:txBody>
      </p:sp>
      <p:sp>
        <p:nvSpPr>
          <p:cNvPr id="108" name="Text 1"/>
          <p:cNvSpPr txBox="1"/>
          <p:nvPr/>
        </p:nvSpPr>
        <p:spPr>
          <a:xfrm>
            <a:off x="761999" y="380999"/>
            <a:ext cx="10881360" cy="1435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1200"/>
              </a:lnSpc>
              <a:spcBef>
                <a:spcPts val="1200"/>
              </a:spcBef>
              <a:defRPr sz="800">
                <a:solidFill>
                  <a:srgbClr val="C9A962"/>
                </a:solidFill>
                <a:latin typeface="Helvetica Neue"/>
                <a:ea typeface="Helvetica Neue"/>
                <a:cs typeface="Helvetica Neue"/>
                <a:sym typeface="Helvetica Neue"/>
              </a:defRPr>
            </a:lvl1pPr>
          </a:lstStyle>
          <a:p>
            <a:r>
              <a:t>CURRICULUM VITAE</a:t>
            </a:r>
          </a:p>
        </p:txBody>
      </p:sp>
      <p:sp>
        <p:nvSpPr>
          <p:cNvPr id="109" name="Text 2"/>
          <p:cNvSpPr txBox="1"/>
          <p:nvPr/>
        </p:nvSpPr>
        <p:spPr>
          <a:xfrm>
            <a:off x="761999" y="896539"/>
            <a:ext cx="932689" cy="3407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400"/>
              </a:lnSpc>
              <a:defRPr sz="2400">
                <a:solidFill>
                  <a:srgbClr val="212121"/>
                </a:solidFill>
                <a:latin typeface="Georgia"/>
                <a:ea typeface="Georgia"/>
                <a:cs typeface="Georgia"/>
                <a:sym typeface="Georgia"/>
              </a:defRPr>
            </a:lvl1pPr>
          </a:lstStyle>
          <a:p>
            <a:r>
              <a:t>손문일</a:t>
            </a:r>
          </a:p>
        </p:txBody>
      </p:sp>
      <p:sp>
        <p:nvSpPr>
          <p:cNvPr id="110" name="Text 3"/>
          <p:cNvSpPr txBox="1"/>
          <p:nvPr/>
        </p:nvSpPr>
        <p:spPr>
          <a:xfrm>
            <a:off x="2031999" y="1010839"/>
            <a:ext cx="1262004" cy="1760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1400"/>
              </a:lnSpc>
              <a:defRPr sz="1000">
                <a:solidFill>
                  <a:srgbClr val="666666"/>
                </a:solidFill>
                <a:latin typeface="Helvetica Neue"/>
                <a:ea typeface="Helvetica Neue"/>
                <a:cs typeface="Helvetica Neue"/>
                <a:sym typeface="Helvetica Neue"/>
              </a:defRPr>
            </a:lvl1pPr>
          </a:lstStyle>
          <a:p>
            <a:r>
              <a:t>SON MUNIL  b.1980</a:t>
            </a:r>
          </a:p>
        </p:txBody>
      </p:sp>
      <p:sp>
        <p:nvSpPr>
          <p:cNvPr id="111" name="Text 4"/>
          <p:cNvSpPr txBox="1"/>
          <p:nvPr/>
        </p:nvSpPr>
        <p:spPr>
          <a:xfrm>
            <a:off x="761999" y="1612701"/>
            <a:ext cx="3368041" cy="1388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1000"/>
              </a:lnSpc>
              <a:spcBef>
                <a:spcPts val="500"/>
              </a:spcBef>
              <a:defRPr sz="800" b="1">
                <a:solidFill>
                  <a:srgbClr val="C9A962"/>
                </a:solidFill>
                <a:latin typeface="Helvetica Neue"/>
                <a:ea typeface="Helvetica Neue"/>
                <a:cs typeface="Helvetica Neue"/>
                <a:sym typeface="Helvetica Neue"/>
              </a:defRPr>
            </a:lvl1pPr>
          </a:lstStyle>
          <a:p>
            <a:r>
              <a:t>학력</a:t>
            </a:r>
          </a:p>
        </p:txBody>
      </p:sp>
      <p:sp>
        <p:nvSpPr>
          <p:cNvPr id="112" name="Text 5"/>
          <p:cNvSpPr txBox="1"/>
          <p:nvPr/>
        </p:nvSpPr>
        <p:spPr>
          <a:xfrm>
            <a:off x="761999" y="1826021"/>
            <a:ext cx="336804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1200">
                <a:solidFill>
                  <a:srgbClr val="A0A0A0"/>
                </a:solidFill>
                <a:latin typeface="Arial"/>
                <a:ea typeface="Arial"/>
                <a:cs typeface="Arial"/>
                <a:sym typeface="Arial"/>
              </a:defRPr>
            </a:lvl1pPr>
          </a:lstStyle>
          <a:p>
            <a:r>
              <a:t>2021  중앙대 예술학 박사과정</a:t>
            </a:r>
          </a:p>
        </p:txBody>
      </p:sp>
      <p:sp>
        <p:nvSpPr>
          <p:cNvPr id="113" name="Text 6"/>
          <p:cNvSpPr txBox="1"/>
          <p:nvPr/>
        </p:nvSpPr>
        <p:spPr>
          <a:xfrm>
            <a:off x="761999" y="2537221"/>
            <a:ext cx="336804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1200">
                <a:solidFill>
                  <a:srgbClr val="A0A0A0"/>
                </a:solidFill>
                <a:latin typeface="Arial"/>
                <a:ea typeface="Arial"/>
                <a:cs typeface="Arial"/>
                <a:sym typeface="Arial"/>
              </a:defRPr>
            </a:lvl1pPr>
          </a:lstStyle>
          <a:p>
            <a:r>
              <a:t>2012  중앙미술학원 벽화과 석사</a:t>
            </a:r>
          </a:p>
        </p:txBody>
      </p:sp>
      <p:sp>
        <p:nvSpPr>
          <p:cNvPr id="114" name="Text 7"/>
          <p:cNvSpPr txBox="1"/>
          <p:nvPr/>
        </p:nvSpPr>
        <p:spPr>
          <a:xfrm>
            <a:off x="761999" y="3248421"/>
            <a:ext cx="336804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1200">
                <a:solidFill>
                  <a:srgbClr val="A0A0A0"/>
                </a:solidFill>
                <a:latin typeface="Arial"/>
                <a:ea typeface="Arial"/>
                <a:cs typeface="Arial"/>
                <a:sym typeface="Arial"/>
              </a:defRPr>
            </a:lvl1pPr>
          </a:lstStyle>
          <a:p>
            <a:r>
              <a:t>2005  서울대 동양화과 학사</a:t>
            </a:r>
          </a:p>
        </p:txBody>
      </p:sp>
      <p:sp>
        <p:nvSpPr>
          <p:cNvPr id="115" name="Text 8"/>
          <p:cNvSpPr txBox="1"/>
          <p:nvPr/>
        </p:nvSpPr>
        <p:spPr>
          <a:xfrm>
            <a:off x="761999" y="3781821"/>
            <a:ext cx="3368041" cy="1388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1000"/>
              </a:lnSpc>
              <a:spcBef>
                <a:spcPts val="500"/>
              </a:spcBef>
              <a:defRPr sz="800" b="1">
                <a:solidFill>
                  <a:srgbClr val="C9A962"/>
                </a:solidFill>
                <a:latin typeface="Helvetica Neue"/>
                <a:ea typeface="Helvetica Neue"/>
                <a:cs typeface="Helvetica Neue"/>
                <a:sym typeface="Helvetica Neue"/>
              </a:defRPr>
            </a:lvl1pPr>
          </a:lstStyle>
          <a:p>
            <a:r>
              <a:t>출강</a:t>
            </a:r>
          </a:p>
        </p:txBody>
      </p:sp>
      <p:sp>
        <p:nvSpPr>
          <p:cNvPr id="116" name="Text 9"/>
          <p:cNvSpPr txBox="1"/>
          <p:nvPr/>
        </p:nvSpPr>
        <p:spPr>
          <a:xfrm>
            <a:off x="761999" y="3995142"/>
            <a:ext cx="336804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1200">
                <a:solidFill>
                  <a:srgbClr val="A0A0A0"/>
                </a:solidFill>
                <a:latin typeface="Arial"/>
                <a:ea typeface="Arial"/>
                <a:cs typeface="Arial"/>
                <a:sym typeface="Arial"/>
              </a:defRPr>
            </a:lvl1pPr>
          </a:lstStyle>
          <a:p>
            <a:r>
              <a:t>2023-현재  서울대, 건국대</a:t>
            </a:r>
          </a:p>
        </p:txBody>
      </p:sp>
      <p:sp>
        <p:nvSpPr>
          <p:cNvPr id="117" name="Text 10"/>
          <p:cNvSpPr txBox="1"/>
          <p:nvPr/>
        </p:nvSpPr>
        <p:spPr>
          <a:xfrm>
            <a:off x="761999" y="4350742"/>
            <a:ext cx="336804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1200">
                <a:solidFill>
                  <a:srgbClr val="A0A0A0"/>
                </a:solidFill>
                <a:latin typeface="Arial"/>
                <a:ea typeface="Arial"/>
                <a:cs typeface="Arial"/>
                <a:sym typeface="Arial"/>
              </a:defRPr>
            </a:lvl1pPr>
          </a:lstStyle>
          <a:p>
            <a:r>
              <a:t>2020-2023  서울예대, 성신여대</a:t>
            </a:r>
          </a:p>
        </p:txBody>
      </p:sp>
      <p:sp>
        <p:nvSpPr>
          <p:cNvPr id="118" name="Text 11"/>
          <p:cNvSpPr txBox="1"/>
          <p:nvPr/>
        </p:nvSpPr>
        <p:spPr>
          <a:xfrm>
            <a:off x="761999" y="5061942"/>
            <a:ext cx="336804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1200">
                <a:solidFill>
                  <a:srgbClr val="A0A0A0"/>
                </a:solidFill>
                <a:latin typeface="Arial"/>
                <a:ea typeface="Arial"/>
                <a:cs typeface="Arial"/>
                <a:sym typeface="Arial"/>
              </a:defRPr>
            </a:lvl1pPr>
          </a:lstStyle>
          <a:p>
            <a:r>
              <a:t>2017-2020  중앙대</a:t>
            </a:r>
          </a:p>
        </p:txBody>
      </p:sp>
      <p:sp>
        <p:nvSpPr>
          <p:cNvPr id="119" name="Text 12"/>
          <p:cNvSpPr txBox="1"/>
          <p:nvPr/>
        </p:nvSpPr>
        <p:spPr>
          <a:xfrm>
            <a:off x="4445000" y="1612701"/>
            <a:ext cx="3368041" cy="1388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1000"/>
              </a:lnSpc>
              <a:spcBef>
                <a:spcPts val="500"/>
              </a:spcBef>
              <a:defRPr sz="800" b="1">
                <a:solidFill>
                  <a:srgbClr val="C9A962"/>
                </a:solidFill>
                <a:latin typeface="Helvetica Neue"/>
                <a:ea typeface="Helvetica Neue"/>
                <a:cs typeface="Helvetica Neue"/>
                <a:sym typeface="Helvetica Neue"/>
              </a:defRPr>
            </a:lvl1pPr>
          </a:lstStyle>
          <a:p>
            <a:r>
              <a:t>주요 개인전</a:t>
            </a:r>
          </a:p>
        </p:txBody>
      </p:sp>
      <p:sp>
        <p:nvSpPr>
          <p:cNvPr id="120" name="Text 13"/>
          <p:cNvSpPr txBox="1"/>
          <p:nvPr/>
        </p:nvSpPr>
        <p:spPr>
          <a:xfrm>
            <a:off x="4445000" y="1826021"/>
            <a:ext cx="336804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1200">
                <a:solidFill>
                  <a:srgbClr val="A0A0A0"/>
                </a:solidFill>
                <a:latin typeface="Arial"/>
                <a:ea typeface="Arial"/>
                <a:cs typeface="Arial"/>
                <a:sym typeface="Arial"/>
              </a:defRPr>
            </a:lvl1pPr>
          </a:lstStyle>
          <a:p>
            <a:r>
              <a:t>2025  'No man is an island', 서울</a:t>
            </a:r>
          </a:p>
        </p:txBody>
      </p:sp>
      <p:sp>
        <p:nvSpPr>
          <p:cNvPr id="121" name="Text 14"/>
          <p:cNvSpPr txBox="1"/>
          <p:nvPr/>
        </p:nvSpPr>
        <p:spPr>
          <a:xfrm>
            <a:off x="4445000" y="2537221"/>
            <a:ext cx="336804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1200">
                <a:solidFill>
                  <a:srgbClr val="A0A0A0"/>
                </a:solidFill>
                <a:latin typeface="Arial"/>
                <a:ea typeface="Arial"/>
                <a:cs typeface="Arial"/>
                <a:sym typeface="Arial"/>
              </a:defRPr>
            </a:lvl1pPr>
          </a:lstStyle>
          <a:p>
            <a:r>
              <a:t>2024  '오늘은 잘 모르겠어', 서울</a:t>
            </a:r>
          </a:p>
        </p:txBody>
      </p:sp>
      <p:sp>
        <p:nvSpPr>
          <p:cNvPr id="122" name="Text 15"/>
          <p:cNvSpPr txBox="1"/>
          <p:nvPr/>
        </p:nvSpPr>
        <p:spPr>
          <a:xfrm>
            <a:off x="4445000" y="3248421"/>
            <a:ext cx="336804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1200">
                <a:solidFill>
                  <a:srgbClr val="A0A0A0"/>
                </a:solidFill>
                <a:latin typeface="Arial"/>
                <a:ea typeface="Arial"/>
                <a:cs typeface="Arial"/>
                <a:sym typeface="Arial"/>
              </a:defRPr>
            </a:lvl1pPr>
          </a:lstStyle>
          <a:p>
            <a:r>
              <a:t>2023  'Reality', 서울</a:t>
            </a:r>
          </a:p>
        </p:txBody>
      </p:sp>
      <p:sp>
        <p:nvSpPr>
          <p:cNvPr id="123" name="Text 16"/>
          <p:cNvSpPr txBox="1"/>
          <p:nvPr/>
        </p:nvSpPr>
        <p:spPr>
          <a:xfrm>
            <a:off x="4445000" y="3604021"/>
            <a:ext cx="336804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1200">
                <a:solidFill>
                  <a:srgbClr val="A0A0A0"/>
                </a:solidFill>
                <a:latin typeface="Arial"/>
                <a:ea typeface="Arial"/>
                <a:cs typeface="Arial"/>
                <a:sym typeface="Arial"/>
              </a:defRPr>
            </a:lvl1pPr>
          </a:lstStyle>
          <a:p>
            <a:r>
              <a:t>2022  '본질의 태도', 서울</a:t>
            </a:r>
          </a:p>
        </p:txBody>
      </p:sp>
      <p:sp>
        <p:nvSpPr>
          <p:cNvPr id="124" name="Text 17"/>
          <p:cNvSpPr txBox="1"/>
          <p:nvPr/>
        </p:nvSpPr>
        <p:spPr>
          <a:xfrm>
            <a:off x="4445000" y="3959621"/>
            <a:ext cx="336804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1200">
                <a:solidFill>
                  <a:srgbClr val="A0A0A0"/>
                </a:solidFill>
                <a:latin typeface="Arial"/>
                <a:ea typeface="Arial"/>
                <a:cs typeface="Arial"/>
                <a:sym typeface="Arial"/>
              </a:defRPr>
            </a:lvl1pPr>
          </a:lstStyle>
          <a:p>
            <a:r>
              <a:t>2017  '물질의 언어', 베니스</a:t>
            </a:r>
          </a:p>
        </p:txBody>
      </p:sp>
      <p:sp>
        <p:nvSpPr>
          <p:cNvPr id="125" name="Text 18"/>
          <p:cNvSpPr txBox="1"/>
          <p:nvPr/>
        </p:nvSpPr>
        <p:spPr>
          <a:xfrm>
            <a:off x="4445000" y="4315221"/>
            <a:ext cx="336804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1200">
                <a:solidFill>
                  <a:srgbClr val="A0A0A0"/>
                </a:solidFill>
                <a:latin typeface="Arial"/>
                <a:ea typeface="Arial"/>
                <a:cs typeface="Arial"/>
                <a:sym typeface="Arial"/>
              </a:defRPr>
            </a:lvl1pPr>
          </a:lstStyle>
          <a:p>
            <a:r>
              <a:t>2010  '손문일', 베이징</a:t>
            </a:r>
          </a:p>
        </p:txBody>
      </p:sp>
      <p:sp>
        <p:nvSpPr>
          <p:cNvPr id="126" name="Text 19"/>
          <p:cNvSpPr txBox="1"/>
          <p:nvPr/>
        </p:nvSpPr>
        <p:spPr>
          <a:xfrm>
            <a:off x="8128000" y="1612701"/>
            <a:ext cx="3368041" cy="1388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1000"/>
              </a:lnSpc>
              <a:spcBef>
                <a:spcPts val="500"/>
              </a:spcBef>
              <a:defRPr sz="800" b="1">
                <a:solidFill>
                  <a:srgbClr val="C9A962"/>
                </a:solidFill>
                <a:latin typeface="Helvetica Neue"/>
                <a:ea typeface="Helvetica Neue"/>
                <a:cs typeface="Helvetica Neue"/>
                <a:sym typeface="Helvetica Neue"/>
              </a:defRPr>
            </a:lvl1pPr>
          </a:lstStyle>
          <a:p>
            <a:r>
              <a:t>주요 단체전</a:t>
            </a:r>
          </a:p>
        </p:txBody>
      </p:sp>
      <p:sp>
        <p:nvSpPr>
          <p:cNvPr id="127" name="Text 20"/>
          <p:cNvSpPr txBox="1"/>
          <p:nvPr/>
        </p:nvSpPr>
        <p:spPr>
          <a:xfrm>
            <a:off x="8128000" y="1826021"/>
            <a:ext cx="336804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1200">
                <a:solidFill>
                  <a:srgbClr val="A0A0A0"/>
                </a:solidFill>
                <a:latin typeface="Arial"/>
                <a:ea typeface="Arial"/>
                <a:cs typeface="Arial"/>
                <a:sym typeface="Arial"/>
              </a:defRPr>
            </a:lvl1pPr>
          </a:lstStyle>
          <a:p>
            <a:r>
              <a:t>2023  전남국제수묵비엔날레</a:t>
            </a:r>
          </a:p>
        </p:txBody>
      </p:sp>
      <p:sp>
        <p:nvSpPr>
          <p:cNvPr id="128" name="Text 21"/>
          <p:cNvSpPr txBox="1"/>
          <p:nvPr/>
        </p:nvSpPr>
        <p:spPr>
          <a:xfrm>
            <a:off x="8128000" y="2181621"/>
            <a:ext cx="336804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1200">
                <a:solidFill>
                  <a:srgbClr val="A0A0A0"/>
                </a:solidFill>
                <a:latin typeface="Arial"/>
                <a:ea typeface="Arial"/>
                <a:cs typeface="Arial"/>
                <a:sym typeface="Arial"/>
              </a:defRPr>
            </a:lvl1pPr>
          </a:lstStyle>
          <a:p>
            <a:r>
              <a:t>2018  Artvera's, 제네바</a:t>
            </a:r>
          </a:p>
        </p:txBody>
      </p:sp>
      <p:sp>
        <p:nvSpPr>
          <p:cNvPr id="129" name="Text 22"/>
          <p:cNvSpPr txBox="1"/>
          <p:nvPr/>
        </p:nvSpPr>
        <p:spPr>
          <a:xfrm>
            <a:off x="8128000" y="2537221"/>
            <a:ext cx="336804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1200">
                <a:solidFill>
                  <a:srgbClr val="A0A0A0"/>
                </a:solidFill>
                <a:latin typeface="Arial"/>
                <a:ea typeface="Arial"/>
                <a:cs typeface="Arial"/>
                <a:sym typeface="Arial"/>
              </a:defRPr>
            </a:lvl1pPr>
          </a:lstStyle>
          <a:p>
            <a:r>
              <a:t>2017  포스코미술관, 예술의전당</a:t>
            </a:r>
          </a:p>
        </p:txBody>
      </p:sp>
      <p:sp>
        <p:nvSpPr>
          <p:cNvPr id="130" name="Text 23"/>
          <p:cNvSpPr txBox="1"/>
          <p:nvPr/>
        </p:nvSpPr>
        <p:spPr>
          <a:xfrm>
            <a:off x="8128000" y="3248421"/>
            <a:ext cx="336804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1200">
                <a:solidFill>
                  <a:srgbClr val="A0A0A0"/>
                </a:solidFill>
                <a:latin typeface="Arial"/>
                <a:ea typeface="Arial"/>
                <a:cs typeface="Arial"/>
                <a:sym typeface="Arial"/>
              </a:defRPr>
            </a:lvl1pPr>
          </a:lstStyle>
          <a:p>
            <a:r>
              <a:t>2016  성곡미술관</a:t>
            </a:r>
          </a:p>
        </p:txBody>
      </p:sp>
      <p:sp>
        <p:nvSpPr>
          <p:cNvPr id="131" name="Text 24"/>
          <p:cNvSpPr txBox="1"/>
          <p:nvPr/>
        </p:nvSpPr>
        <p:spPr>
          <a:xfrm>
            <a:off x="8128000" y="3781821"/>
            <a:ext cx="3368041" cy="1388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1000"/>
              </a:lnSpc>
              <a:spcBef>
                <a:spcPts val="500"/>
              </a:spcBef>
              <a:defRPr sz="800" b="1">
                <a:solidFill>
                  <a:srgbClr val="C9A962"/>
                </a:solidFill>
                <a:latin typeface="Helvetica Neue"/>
                <a:ea typeface="Helvetica Neue"/>
                <a:cs typeface="Helvetica Neue"/>
                <a:sym typeface="Helvetica Neue"/>
              </a:defRPr>
            </a:lvl1pPr>
          </a:lstStyle>
          <a:p>
            <a:r>
              <a:t>소장</a:t>
            </a:r>
          </a:p>
        </p:txBody>
      </p:sp>
      <p:sp>
        <p:nvSpPr>
          <p:cNvPr id="132" name="Text 25"/>
          <p:cNvSpPr txBox="1"/>
          <p:nvPr/>
        </p:nvSpPr>
        <p:spPr>
          <a:xfrm>
            <a:off x="8128000" y="3995142"/>
            <a:ext cx="336804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1200">
                <a:solidFill>
                  <a:srgbClr val="A0A0A0"/>
                </a:solidFill>
                <a:latin typeface="Arial"/>
                <a:ea typeface="Arial"/>
                <a:cs typeface="Arial"/>
                <a:sym typeface="Arial"/>
              </a:defRPr>
            </a:lvl1pPr>
          </a:lstStyle>
          <a:p>
            <a:r>
              <a:t>중앙미술학원 미술관, 베이징</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Text 0"/>
          <p:cNvSpPr/>
          <p:nvPr/>
        </p:nvSpPr>
        <p:spPr>
          <a:xfrm>
            <a:off x="-1" y="-1"/>
            <a:ext cx="50801" cy="6858001"/>
          </a:xfrm>
          <a:prstGeom prst="rect">
            <a:avLst/>
          </a:prstGeom>
          <a:solidFill>
            <a:srgbClr val="C9A962"/>
          </a:solidFill>
          <a:ln w="12700">
            <a:miter lim="400000"/>
          </a:ln>
        </p:spPr>
        <p:txBody>
          <a:bodyPr lIns="60959" tIns="60959" rIns="60959" bIns="60959" anchor="ctr"/>
          <a:lstStyle/>
          <a:p>
            <a:pPr defTabSz="1219200">
              <a:defRPr sz="2400"/>
            </a:pPr>
            <a:endParaRPr/>
          </a:p>
        </p:txBody>
      </p:sp>
      <p:sp>
        <p:nvSpPr>
          <p:cNvPr id="135" name="Text 1"/>
          <p:cNvSpPr txBox="1"/>
          <p:nvPr/>
        </p:nvSpPr>
        <p:spPr>
          <a:xfrm>
            <a:off x="1015999" y="460175"/>
            <a:ext cx="10363201" cy="1598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1300"/>
              </a:lnSpc>
              <a:spcBef>
                <a:spcPts val="2900"/>
              </a:spcBef>
              <a:defRPr sz="900">
                <a:solidFill>
                  <a:srgbClr val="C9A962"/>
                </a:solidFill>
                <a:latin typeface="Helvetica Neue"/>
                <a:ea typeface="Helvetica Neue"/>
                <a:cs typeface="Helvetica Neue"/>
                <a:sym typeface="Helvetica Neue"/>
              </a:defRPr>
            </a:lvl1pPr>
          </a:lstStyle>
          <a:p>
            <a:r>
              <a:t>CURATORIAL STATEMENT</a:t>
            </a:r>
          </a:p>
        </p:txBody>
      </p:sp>
      <p:sp>
        <p:nvSpPr>
          <p:cNvPr id="136" name="Text 2"/>
          <p:cNvSpPr txBox="1"/>
          <p:nvPr/>
        </p:nvSpPr>
        <p:spPr>
          <a:xfrm>
            <a:off x="1015999" y="1222175"/>
            <a:ext cx="5194556" cy="549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4100"/>
              </a:lnSpc>
              <a:defRPr sz="3200">
                <a:solidFill>
                  <a:srgbClr val="212121"/>
                </a:solidFill>
                <a:latin typeface="Georgia"/>
                <a:ea typeface="Georgia"/>
                <a:cs typeface="Georgia"/>
                <a:sym typeface="Georgia"/>
              </a:defRPr>
            </a:lvl1pPr>
          </a:lstStyle>
          <a:p>
            <a:r>
              <a:t>전시 서문</a:t>
            </a:r>
          </a:p>
        </p:txBody>
      </p:sp>
      <p:sp>
        <p:nvSpPr>
          <p:cNvPr id="137" name="Text 3"/>
          <p:cNvSpPr txBox="1"/>
          <p:nvPr/>
        </p:nvSpPr>
        <p:spPr>
          <a:xfrm>
            <a:off x="1015999" y="2334617"/>
            <a:ext cx="10104122" cy="6275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just" defTabSz="1219200">
              <a:lnSpc>
                <a:spcPts val="2500"/>
              </a:lnSpc>
              <a:defRPr sz="1200">
                <a:solidFill>
                  <a:srgbClr val="212121"/>
                </a:solidFill>
                <a:latin typeface="Georgia"/>
                <a:ea typeface="Georgia"/>
                <a:cs typeface="Georgia"/>
                <a:sym typeface="Georgia"/>
              </a:defRPr>
            </a:lvl1pPr>
          </a:lstStyle>
          <a:p>
            <a:r>
              <a:t>레너드 코헨은 노래했다. "모든 것에는 금이 있다, 그것이 빛이 들어오는 곳이다(There is a crack in everything, that's how the light gets in)." 손문일의 작업은 바로 이 역설 위에 서 있다. 균열은 결함이 아니라 가능성이며, 상처는 감춰야 할 것이 아니라 빛이 스며드는 통로다.</a:t>
            </a:r>
          </a:p>
        </p:txBody>
      </p:sp>
      <p:sp>
        <p:nvSpPr>
          <p:cNvPr id="138" name="Text 4"/>
          <p:cNvSpPr txBox="1"/>
          <p:nvPr/>
        </p:nvSpPr>
        <p:spPr>
          <a:xfrm>
            <a:off x="1015999" y="3500238"/>
            <a:ext cx="10104122" cy="9493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just" defTabSz="1219200">
              <a:lnSpc>
                <a:spcPts val="2500"/>
              </a:lnSpc>
              <a:defRPr sz="1200">
                <a:solidFill>
                  <a:srgbClr val="212121"/>
                </a:solidFill>
                <a:latin typeface="Georgia"/>
                <a:ea typeface="Georgia"/>
                <a:cs typeface="Georgia"/>
                <a:sym typeface="Georgia"/>
              </a:defRPr>
            </a:lvl1pPr>
          </a:lstStyle>
          <a:p>
            <a:r>
              <a:t>백토 위에 새겨진 갈라짐의 패턴은 마치 지문처럼 고유하다. 작가는 이 균열을 통제하지 않는다. 오히려 재료가 시간과 만나 스스로 만들어내는 흔적을 존중한다. 정장을 입은 익명의 인물들은 우리 모두의 초상이다. 얼굴 없이 걸어가는 그들은 사회가 요구하는 페르소나를 입고 살아가는 현대인의 모습을 담담히 비춘다.</a:t>
            </a:r>
          </a:p>
        </p:txBody>
      </p:sp>
      <p:sp>
        <p:nvSpPr>
          <p:cNvPr id="139" name="Text 5"/>
          <p:cNvSpPr txBox="1"/>
          <p:nvPr/>
        </p:nvSpPr>
        <p:spPr>
          <a:xfrm>
            <a:off x="1015999" y="4818261"/>
            <a:ext cx="10104122" cy="6275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just" defTabSz="1219200">
              <a:lnSpc>
                <a:spcPts val="2500"/>
              </a:lnSpc>
              <a:defRPr sz="1200">
                <a:solidFill>
                  <a:srgbClr val="212121"/>
                </a:solidFill>
                <a:latin typeface="Georgia"/>
                <a:ea typeface="Georgia"/>
                <a:cs typeface="Georgia"/>
                <a:sym typeface="Georgia"/>
              </a:defRPr>
            </a:lvl1pPr>
          </a:lstStyle>
          <a:p>
            <a:r>
              <a:t>〈완전한 딱지〉 시리즈에서 점성 있는 물질로 뒤덮인 얼굴들은 역설적으로 내면을 드러낸다. 색채는 감정의 온도이며, 왜곡된 형상은 정체성의 유동성을 이야기한다. 흉터가 아물어 딱지가 되듯, 상처는 치유의 과정 속에서 또 다른 완전함으로 변모한다.</a:t>
            </a:r>
          </a:p>
        </p:txBody>
      </p:sp>
      <p:sp>
        <p:nvSpPr>
          <p:cNvPr id="140" name="Text 6"/>
          <p:cNvSpPr txBox="1"/>
          <p:nvPr/>
        </p:nvSpPr>
        <p:spPr>
          <a:xfrm>
            <a:off x="1015999" y="5722342"/>
            <a:ext cx="10104122" cy="627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just" defTabSz="1219200">
              <a:lnSpc>
                <a:spcPts val="2500"/>
              </a:lnSpc>
              <a:defRPr sz="1200">
                <a:solidFill>
                  <a:srgbClr val="212121"/>
                </a:solidFill>
                <a:latin typeface="Georgia"/>
                <a:ea typeface="Georgia"/>
                <a:cs typeface="Georgia"/>
                <a:sym typeface="Georgia"/>
              </a:defRPr>
            </a:lvl1pPr>
          </a:lstStyle>
          <a:p>
            <a:r>
              <a:t>이 전시는 질문한다—온전함이란 무엇인가? 손문일에게 그것은 균열 없는 매끈함이 아니라, 갈라진 틈 사이로 빛이 스며든 상태다. 파편이 모여 퍼즐이 되고, 고립된 섬들이 결국 연결되듯, 우리의 상처는 우리를 더 완전하게 만든다.</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hape 0"/>
          <p:cNvSpPr/>
          <p:nvPr/>
        </p:nvSpPr>
        <p:spPr>
          <a:xfrm>
            <a:off x="-1" y="0"/>
            <a:ext cx="12191697" cy="6858000"/>
          </a:xfrm>
          <a:prstGeom prst="rect">
            <a:avLst/>
          </a:prstGeom>
          <a:solidFill>
            <a:srgbClr val="F3F4F6"/>
          </a:solidFill>
          <a:ln w="12700">
            <a:miter lim="400000"/>
          </a:ln>
        </p:spPr>
        <p:txBody>
          <a:bodyPr lIns="45719" rIns="45719"/>
          <a:lstStyle/>
          <a:p>
            <a:endParaRPr/>
          </a:p>
        </p:txBody>
      </p:sp>
      <p:sp>
        <p:nvSpPr>
          <p:cNvPr id="143" name="Shape 1"/>
          <p:cNvSpPr/>
          <p:nvPr/>
        </p:nvSpPr>
        <p:spPr>
          <a:xfrm>
            <a:off x="-1" y="0"/>
            <a:ext cx="12191697" cy="6858000"/>
          </a:xfrm>
          <a:prstGeom prst="rect">
            <a:avLst/>
          </a:prstGeom>
          <a:solidFill>
            <a:srgbClr val="FFFFFF"/>
          </a:solidFill>
          <a:ln w="12700">
            <a:miter lim="400000"/>
          </a:ln>
        </p:spPr>
        <p:txBody>
          <a:bodyPr lIns="45719" rIns="45719"/>
          <a:lstStyle/>
          <a:p>
            <a:endParaRPr/>
          </a:p>
        </p:txBody>
      </p:sp>
      <p:sp>
        <p:nvSpPr>
          <p:cNvPr id="144" name="Shape 2"/>
          <p:cNvSpPr/>
          <p:nvPr/>
        </p:nvSpPr>
        <p:spPr>
          <a:xfrm>
            <a:off x="-1" y="0"/>
            <a:ext cx="7114948" cy="6858000"/>
          </a:xfrm>
          <a:prstGeom prst="rect">
            <a:avLst/>
          </a:prstGeom>
          <a:solidFill>
            <a:srgbClr val="F9FAFB"/>
          </a:solidFill>
          <a:ln w="12700">
            <a:miter lim="400000"/>
          </a:ln>
        </p:spPr>
        <p:txBody>
          <a:bodyPr lIns="45719" rIns="45719"/>
          <a:lstStyle/>
          <a:p>
            <a:endParaRPr/>
          </a:p>
        </p:txBody>
      </p:sp>
      <p:sp>
        <p:nvSpPr>
          <p:cNvPr id="145" name="Text 3"/>
          <p:cNvSpPr txBox="1"/>
          <p:nvPr/>
        </p:nvSpPr>
        <p:spPr>
          <a:xfrm>
            <a:off x="3474720" y="3335528"/>
            <a:ext cx="277064"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b="1">
                <a:solidFill>
                  <a:srgbClr val="F3F4F6">
                    <a:alpha val="60000"/>
                  </a:srgbClr>
                </a:solidFill>
                <a:latin typeface="Noto Serif KR"/>
                <a:ea typeface="Noto Serif KR"/>
                <a:cs typeface="Noto Serif KR"/>
                <a:sym typeface="Noto Serif KR"/>
              </a:defRPr>
            </a:lvl1pPr>
          </a:lstStyle>
          <a:p>
            <a:r>
              <a:t>01</a:t>
            </a:r>
          </a:p>
        </p:txBody>
      </p:sp>
      <p:sp>
        <p:nvSpPr>
          <p:cNvPr id="146" name="Shape 4"/>
          <p:cNvSpPr/>
          <p:nvPr/>
        </p:nvSpPr>
        <p:spPr>
          <a:xfrm>
            <a:off x="7100366" y="857707"/>
            <a:ext cx="12701" cy="5143501"/>
          </a:xfrm>
          <a:prstGeom prst="rect">
            <a:avLst/>
          </a:prstGeom>
          <a:solidFill>
            <a:srgbClr val="E5E7EB"/>
          </a:solidFill>
          <a:ln w="12700">
            <a:miter lim="400000"/>
          </a:ln>
        </p:spPr>
        <p:txBody>
          <a:bodyPr lIns="45719" rIns="45719"/>
          <a:lstStyle/>
          <a:p>
            <a:endParaRPr/>
          </a:p>
        </p:txBody>
      </p:sp>
      <p:sp>
        <p:nvSpPr>
          <p:cNvPr id="147" name="Shape 5"/>
          <p:cNvSpPr/>
          <p:nvPr/>
        </p:nvSpPr>
        <p:spPr>
          <a:xfrm>
            <a:off x="7112203" y="0"/>
            <a:ext cx="5086808" cy="6858000"/>
          </a:xfrm>
          <a:prstGeom prst="rect">
            <a:avLst/>
          </a:prstGeom>
          <a:solidFill>
            <a:srgbClr val="FFFFFF"/>
          </a:solidFill>
          <a:ln w="12700">
            <a:miter lim="400000"/>
          </a:ln>
        </p:spPr>
        <p:txBody>
          <a:bodyPr lIns="45719" rIns="45719"/>
          <a:lstStyle/>
          <a:p>
            <a:endParaRPr/>
          </a:p>
        </p:txBody>
      </p:sp>
      <p:sp>
        <p:nvSpPr>
          <p:cNvPr id="148" name="Shape 6"/>
          <p:cNvSpPr/>
          <p:nvPr/>
        </p:nvSpPr>
        <p:spPr>
          <a:xfrm>
            <a:off x="7721193" y="598068"/>
            <a:ext cx="304496" cy="12701"/>
          </a:xfrm>
          <a:prstGeom prst="rect">
            <a:avLst/>
          </a:prstGeom>
          <a:solidFill>
            <a:srgbClr val="EF4444"/>
          </a:solidFill>
          <a:ln w="12700">
            <a:miter lim="400000"/>
          </a:ln>
        </p:spPr>
        <p:txBody>
          <a:bodyPr lIns="45719" rIns="45719"/>
          <a:lstStyle/>
          <a:p>
            <a:endParaRPr/>
          </a:p>
        </p:txBody>
      </p:sp>
      <p:sp>
        <p:nvSpPr>
          <p:cNvPr id="149" name="Text 7"/>
          <p:cNvSpPr txBox="1"/>
          <p:nvPr/>
        </p:nvSpPr>
        <p:spPr>
          <a:xfrm>
            <a:off x="8140903" y="530910"/>
            <a:ext cx="1105511"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b="1">
                <a:solidFill>
                  <a:srgbClr val="EF4444"/>
                </a:solidFill>
                <a:latin typeface="Noto Sans KR"/>
                <a:ea typeface="Noto Sans KR"/>
                <a:cs typeface="Noto Sans KR"/>
                <a:sym typeface="Noto Sans KR"/>
              </a:defRPr>
            </a:lvl1pPr>
          </a:lstStyle>
          <a:p>
            <a:r>
              <a:t>FEATURED SERIES</a:t>
            </a:r>
          </a:p>
        </p:txBody>
      </p:sp>
      <p:sp>
        <p:nvSpPr>
          <p:cNvPr id="150" name="Text 8"/>
          <p:cNvSpPr txBox="1"/>
          <p:nvPr/>
        </p:nvSpPr>
        <p:spPr>
          <a:xfrm>
            <a:off x="7721193" y="825140"/>
            <a:ext cx="2695652" cy="5781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3600" b="1">
                <a:solidFill>
                  <a:srgbClr val="111827"/>
                </a:solidFill>
                <a:latin typeface="Noto Serif KR"/>
                <a:ea typeface="Noto Serif KR"/>
                <a:cs typeface="Noto Serif KR"/>
                <a:sym typeface="Noto Serif KR"/>
              </a:defRPr>
            </a:lvl1pPr>
          </a:lstStyle>
          <a:p>
            <a:r>
              <a:t>완전한 퍼즐</a:t>
            </a:r>
          </a:p>
        </p:txBody>
      </p:sp>
      <p:sp>
        <p:nvSpPr>
          <p:cNvPr id="151" name="Text 9"/>
          <p:cNvSpPr txBox="1"/>
          <p:nvPr/>
        </p:nvSpPr>
        <p:spPr>
          <a:xfrm>
            <a:off x="7721193" y="1495501"/>
            <a:ext cx="2109386"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500">
                <a:solidFill>
                  <a:srgbClr val="6B7280"/>
                </a:solidFill>
                <a:latin typeface="Noto Sans KR"/>
                <a:ea typeface="Noto Sans KR"/>
                <a:cs typeface="Noto Sans KR"/>
                <a:sym typeface="Noto Sans KR"/>
              </a:defRPr>
            </a:lvl1pPr>
          </a:lstStyle>
          <a:p>
            <a:r>
              <a:t>PERFECT PUZZLE</a:t>
            </a:r>
          </a:p>
        </p:txBody>
      </p:sp>
      <p:sp>
        <p:nvSpPr>
          <p:cNvPr id="152" name="Shape 10"/>
          <p:cNvSpPr/>
          <p:nvPr/>
        </p:nvSpPr>
        <p:spPr>
          <a:xfrm>
            <a:off x="7721193" y="2204617"/>
            <a:ext cx="19203" cy="267006"/>
          </a:xfrm>
          <a:prstGeom prst="rect">
            <a:avLst/>
          </a:prstGeom>
          <a:solidFill>
            <a:srgbClr val="111827"/>
          </a:solidFill>
          <a:ln w="12700">
            <a:miter lim="400000"/>
          </a:ln>
        </p:spPr>
        <p:txBody>
          <a:bodyPr lIns="45719" rIns="45719"/>
          <a:lstStyle/>
          <a:p>
            <a:endParaRPr/>
          </a:p>
        </p:txBody>
      </p:sp>
      <p:sp>
        <p:nvSpPr>
          <p:cNvPr id="153" name="Text 11"/>
          <p:cNvSpPr txBox="1"/>
          <p:nvPr/>
        </p:nvSpPr>
        <p:spPr>
          <a:xfrm>
            <a:off x="7893101" y="2231197"/>
            <a:ext cx="1567283" cy="2147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300">
                <a:solidFill>
                  <a:srgbClr val="1F2937"/>
                </a:solidFill>
                <a:latin typeface="Noto Serif KR"/>
                <a:ea typeface="Noto Serif KR"/>
                <a:cs typeface="Noto Serif KR"/>
                <a:sym typeface="Noto Serif KR"/>
              </a:defRPr>
            </a:lvl1pPr>
          </a:lstStyle>
          <a:p>
            <a:r>
              <a:t>결핍과 충만의 공존</a:t>
            </a:r>
          </a:p>
        </p:txBody>
      </p:sp>
      <p:sp>
        <p:nvSpPr>
          <p:cNvPr id="154" name="Shape 15"/>
          <p:cNvSpPr/>
          <p:nvPr/>
        </p:nvSpPr>
        <p:spPr>
          <a:xfrm>
            <a:off x="7721193" y="5441644"/>
            <a:ext cx="3866999" cy="12701"/>
          </a:xfrm>
          <a:prstGeom prst="rect">
            <a:avLst/>
          </a:prstGeom>
          <a:solidFill>
            <a:srgbClr val="F3F4F6"/>
          </a:solidFill>
          <a:ln w="12700">
            <a:miter lim="400000"/>
          </a:ln>
        </p:spPr>
        <p:txBody>
          <a:bodyPr lIns="45719" rIns="45719"/>
          <a:lstStyle/>
          <a:p>
            <a:endParaRPr/>
          </a:p>
        </p:txBody>
      </p:sp>
      <p:sp>
        <p:nvSpPr>
          <p:cNvPr id="155" name="Text 16"/>
          <p:cNvSpPr txBox="1"/>
          <p:nvPr/>
        </p:nvSpPr>
        <p:spPr>
          <a:xfrm>
            <a:off x="7721193" y="5759449"/>
            <a:ext cx="790957"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MATERIALS</a:t>
            </a:r>
          </a:p>
        </p:txBody>
      </p:sp>
      <p:sp>
        <p:nvSpPr>
          <p:cNvPr id="156" name="Text 17"/>
          <p:cNvSpPr txBox="1"/>
          <p:nvPr/>
        </p:nvSpPr>
        <p:spPr>
          <a:xfrm>
            <a:off x="7721193" y="5986424"/>
            <a:ext cx="1528878" cy="30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374151"/>
                </a:solidFill>
                <a:latin typeface="Noto Serif KR"/>
                <a:ea typeface="Noto Serif KR"/>
                <a:cs typeface="Noto Serif KR"/>
                <a:sym typeface="Noto Serif KR"/>
              </a:defRPr>
            </a:lvl1pPr>
          </a:lstStyle>
          <a:p>
            <a:r>
              <a:t>White clay on canvas, Acrylic, Fabric</a:t>
            </a:r>
          </a:p>
        </p:txBody>
      </p:sp>
      <p:sp>
        <p:nvSpPr>
          <p:cNvPr id="157" name="Text 18"/>
          <p:cNvSpPr txBox="1"/>
          <p:nvPr/>
        </p:nvSpPr>
        <p:spPr>
          <a:xfrm>
            <a:off x="9728302" y="5759449"/>
            <a:ext cx="838506"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TECHNIQUE</a:t>
            </a:r>
          </a:p>
        </p:txBody>
      </p:sp>
      <p:sp>
        <p:nvSpPr>
          <p:cNvPr id="158" name="Text 19"/>
          <p:cNvSpPr txBox="1"/>
          <p:nvPr/>
        </p:nvSpPr>
        <p:spPr>
          <a:xfrm>
            <a:off x="9728302" y="5967526"/>
            <a:ext cx="1443839" cy="152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374151"/>
                </a:solidFill>
                <a:latin typeface="Noto Serif KR"/>
                <a:ea typeface="Noto Serif KR"/>
                <a:cs typeface="Noto Serif KR"/>
                <a:sym typeface="Noto Serif KR"/>
              </a:defRPr>
            </a:lvl1pPr>
          </a:lstStyle>
          <a:p>
            <a:r>
              <a:t>Layering &amp; Cracking</a:t>
            </a:r>
          </a:p>
        </p:txBody>
      </p:sp>
      <p:sp>
        <p:nvSpPr>
          <p:cNvPr id="159" name="Shape 20"/>
          <p:cNvSpPr/>
          <p:nvPr/>
        </p:nvSpPr>
        <p:spPr>
          <a:xfrm>
            <a:off x="11296498" y="6495898"/>
            <a:ext cx="57608" cy="57608"/>
          </a:xfrm>
          <a:prstGeom prst="roundRect">
            <a:avLst>
              <a:gd name="adj" fmla="val 50000"/>
            </a:avLst>
          </a:prstGeom>
          <a:solidFill>
            <a:srgbClr val="1F2937"/>
          </a:solidFill>
          <a:ln w="12700">
            <a:miter lim="400000"/>
          </a:ln>
        </p:spPr>
        <p:txBody>
          <a:bodyPr lIns="45719" rIns="45719"/>
          <a:lstStyle/>
          <a:p>
            <a:endParaRPr/>
          </a:p>
        </p:txBody>
      </p:sp>
      <p:sp>
        <p:nvSpPr>
          <p:cNvPr id="160" name="Shape 21"/>
          <p:cNvSpPr/>
          <p:nvPr/>
        </p:nvSpPr>
        <p:spPr>
          <a:xfrm>
            <a:off x="11430000" y="6495898"/>
            <a:ext cx="57607" cy="57608"/>
          </a:xfrm>
          <a:prstGeom prst="roundRect">
            <a:avLst>
              <a:gd name="adj" fmla="val 50000"/>
            </a:avLst>
          </a:prstGeom>
          <a:solidFill>
            <a:srgbClr val="D1D5DB"/>
          </a:solidFill>
          <a:ln w="12700">
            <a:miter lim="400000"/>
          </a:ln>
        </p:spPr>
        <p:txBody>
          <a:bodyPr lIns="45719" rIns="45719"/>
          <a:lstStyle/>
          <a:p>
            <a:endParaRPr/>
          </a:p>
        </p:txBody>
      </p:sp>
      <p:sp>
        <p:nvSpPr>
          <p:cNvPr id="161" name="Shape 22"/>
          <p:cNvSpPr/>
          <p:nvPr/>
        </p:nvSpPr>
        <p:spPr>
          <a:xfrm>
            <a:off x="11563501" y="6495898"/>
            <a:ext cx="57608" cy="57608"/>
          </a:xfrm>
          <a:prstGeom prst="roundRect">
            <a:avLst>
              <a:gd name="adj" fmla="val 50000"/>
            </a:avLst>
          </a:prstGeom>
          <a:solidFill>
            <a:srgbClr val="D1D5DB"/>
          </a:solidFill>
          <a:ln w="12700">
            <a:miter lim="400000"/>
          </a:ln>
        </p:spPr>
        <p:txBody>
          <a:bodyPr lIns="45719" rIns="45719"/>
          <a:lstStyle/>
          <a:p>
            <a:endParaRPr/>
          </a:p>
        </p:txBody>
      </p:sp>
      <p:sp>
        <p:nvSpPr>
          <p:cNvPr id="162" name="Shape 23"/>
          <p:cNvSpPr/>
          <p:nvPr/>
        </p:nvSpPr>
        <p:spPr>
          <a:xfrm>
            <a:off x="11697004" y="6495898"/>
            <a:ext cx="57608" cy="57608"/>
          </a:xfrm>
          <a:prstGeom prst="roundRect">
            <a:avLst>
              <a:gd name="adj" fmla="val 50000"/>
            </a:avLst>
          </a:prstGeom>
          <a:solidFill>
            <a:srgbClr val="D1D5DB"/>
          </a:solidFill>
          <a:ln w="12700">
            <a:miter lim="400000"/>
          </a:ln>
        </p:spPr>
        <p:txBody>
          <a:bodyPr lIns="45719" rIns="45719"/>
          <a:lstStyle/>
          <a:p>
            <a:endParaRPr/>
          </a:p>
        </p:txBody>
      </p:sp>
      <p:sp>
        <p:nvSpPr>
          <p:cNvPr id="163" name="Shape 24"/>
          <p:cNvSpPr/>
          <p:nvPr/>
        </p:nvSpPr>
        <p:spPr>
          <a:xfrm>
            <a:off x="11829592" y="6495898"/>
            <a:ext cx="57608" cy="57608"/>
          </a:xfrm>
          <a:prstGeom prst="roundRect">
            <a:avLst>
              <a:gd name="adj" fmla="val 50000"/>
            </a:avLst>
          </a:prstGeom>
          <a:solidFill>
            <a:srgbClr val="D1D5DB"/>
          </a:solidFill>
          <a:ln w="12700">
            <a:miter lim="400000"/>
          </a:ln>
        </p:spPr>
        <p:txBody>
          <a:bodyPr lIns="45719" rIns="45719"/>
          <a:lstStyle/>
          <a:p>
            <a:endParaRPr/>
          </a:p>
        </p:txBody>
      </p:sp>
      <p:pic>
        <p:nvPicPr>
          <p:cNvPr id="164" name="1-1. 완전한 퍼즐 2024_Acylic on canvas.jpg" descr="1-1. 완전한 퍼즐 2024_Acylic on canvas.jpg"/>
          <p:cNvPicPr>
            <a:picLocks noChangeAspect="1"/>
          </p:cNvPicPr>
          <p:nvPr/>
        </p:nvPicPr>
        <p:blipFill>
          <a:blip r:embed="rId2"/>
          <a:srcRect/>
          <a:stretch>
            <a:fillRect/>
          </a:stretch>
        </p:blipFill>
        <p:spPr>
          <a:xfrm>
            <a:off x="457200" y="2386431"/>
            <a:ext cx="2962656" cy="2089710"/>
          </a:xfrm>
          <a:prstGeom prst="rect">
            <a:avLst/>
          </a:prstGeom>
          <a:ln w="12700">
            <a:miter lim="400000"/>
          </a:ln>
        </p:spPr>
      </p:pic>
      <p:pic>
        <p:nvPicPr>
          <p:cNvPr id="165" name="Image 1" descr="Image 1"/>
          <p:cNvPicPr>
            <a:picLocks noChangeAspect="1"/>
          </p:cNvPicPr>
          <p:nvPr/>
        </p:nvPicPr>
        <p:blipFill>
          <a:blip r:embed="rId3"/>
          <a:srcRect t="2" b="1"/>
          <a:stretch>
            <a:fillRect/>
          </a:stretch>
        </p:blipFill>
        <p:spPr>
          <a:xfrm>
            <a:off x="3715206" y="1778507"/>
            <a:ext cx="2943456" cy="3762757"/>
          </a:xfrm>
          <a:prstGeom prst="rect">
            <a:avLst/>
          </a:prstGeom>
          <a:ln w="12700">
            <a:miter lim="400000"/>
          </a:ln>
        </p:spPr>
      </p:pic>
      <p:sp>
        <p:nvSpPr>
          <p:cNvPr id="166" name="Text 4"/>
          <p:cNvSpPr txBox="1"/>
          <p:nvPr/>
        </p:nvSpPr>
        <p:spPr>
          <a:xfrm>
            <a:off x="7722107" y="2678757"/>
            <a:ext cx="3866999" cy="9573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just">
              <a:lnSpc>
                <a:spcPts val="1900"/>
              </a:lnSpc>
              <a:defRPr sz="1000">
                <a:latin typeface="Georgia"/>
                <a:ea typeface="Georgia"/>
                <a:cs typeface="Georgia"/>
                <a:sym typeface="Georgia"/>
              </a:defRPr>
            </a:lvl1pPr>
          </a:lstStyle>
          <a:p>
            <a:r>
              <a:t>제목의 역설이 작품의 핵심이다. 퍼즐은 본래 흩어진 조각들이 맞춰져야 완성되지만, 손문일의 퍼즐은 이미 완전하다. 균열진 백토 표면 위에 희미하게 떠오르는 형상은 분리된 것처럼 보이지만, 그 분리 자체가 하나의 온전한 형태를 이룬다.</a:t>
            </a:r>
          </a:p>
        </p:txBody>
      </p:sp>
      <p:sp>
        <p:nvSpPr>
          <p:cNvPr id="167" name="Text 5"/>
          <p:cNvSpPr txBox="1"/>
          <p:nvPr/>
        </p:nvSpPr>
        <p:spPr>
          <a:xfrm>
            <a:off x="7722107" y="3750357"/>
            <a:ext cx="3866999" cy="9573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just">
              <a:lnSpc>
                <a:spcPts val="1900"/>
              </a:lnSpc>
              <a:defRPr sz="1000">
                <a:latin typeface="Georgia"/>
                <a:ea typeface="Georgia"/>
                <a:cs typeface="Georgia"/>
                <a:sym typeface="Georgia"/>
              </a:defRPr>
            </a:lvl1pPr>
          </a:lstStyle>
          <a:p>
            <a:r>
              <a:t>스테인리스 패널 위에 펼쳐진 천과 백토의 물성적 대비는 견고함과 연약함, 영속성과 일시성 사이의 긴장을 만들어낸다. 균열의 패턴은 통제되지 않은 채 시간이 스스로 새긴 흔적이며, 작가는 이 우연의 미학을 작품의 핵심 언어로 삼는다.</a:t>
            </a:r>
          </a:p>
        </p:txBody>
      </p:sp>
      <p:sp>
        <p:nvSpPr>
          <p:cNvPr id="168" name="Text 6"/>
          <p:cNvSpPr txBox="1"/>
          <p:nvPr/>
        </p:nvSpPr>
        <p:spPr>
          <a:xfrm>
            <a:off x="7742376" y="4821957"/>
            <a:ext cx="3826461" cy="4747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just">
              <a:lnSpc>
                <a:spcPts val="1900"/>
              </a:lnSpc>
              <a:defRPr sz="1000">
                <a:latin typeface="Georgia"/>
                <a:ea typeface="Georgia"/>
                <a:cs typeface="Georgia"/>
                <a:sym typeface="Georgia"/>
              </a:defRPr>
            </a:lvl1pPr>
          </a:lstStyle>
          <a:p>
            <a:r>
              <a:t>파편으로 존재하는 것이 곧 완전함이라는 선언—이것이 〈완전한 퍼즐〉이 전하는 역설적 메시지다.</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Shape 0"/>
          <p:cNvSpPr/>
          <p:nvPr/>
        </p:nvSpPr>
        <p:spPr>
          <a:xfrm>
            <a:off x="-1" y="0"/>
            <a:ext cx="12191697" cy="6858000"/>
          </a:xfrm>
          <a:prstGeom prst="rect">
            <a:avLst/>
          </a:prstGeom>
          <a:solidFill>
            <a:srgbClr val="F3F4F6"/>
          </a:solidFill>
          <a:ln w="12700">
            <a:miter lim="400000"/>
          </a:ln>
        </p:spPr>
        <p:txBody>
          <a:bodyPr lIns="45719" rIns="45719"/>
          <a:lstStyle/>
          <a:p>
            <a:endParaRPr/>
          </a:p>
        </p:txBody>
      </p:sp>
      <p:sp>
        <p:nvSpPr>
          <p:cNvPr id="171" name="Shape 1"/>
          <p:cNvSpPr/>
          <p:nvPr/>
        </p:nvSpPr>
        <p:spPr>
          <a:xfrm>
            <a:off x="-1" y="0"/>
            <a:ext cx="12191697" cy="6858000"/>
          </a:xfrm>
          <a:prstGeom prst="rect">
            <a:avLst/>
          </a:prstGeom>
          <a:solidFill>
            <a:srgbClr val="FFFFFF"/>
          </a:solidFill>
          <a:ln w="12700">
            <a:miter lim="400000"/>
          </a:ln>
        </p:spPr>
        <p:txBody>
          <a:bodyPr lIns="45719" rIns="45719"/>
          <a:lstStyle/>
          <a:p>
            <a:endParaRPr/>
          </a:p>
        </p:txBody>
      </p:sp>
      <p:sp>
        <p:nvSpPr>
          <p:cNvPr id="172" name="Shape 2"/>
          <p:cNvSpPr/>
          <p:nvPr/>
        </p:nvSpPr>
        <p:spPr>
          <a:xfrm>
            <a:off x="-1" y="0"/>
            <a:ext cx="7114948" cy="6858000"/>
          </a:xfrm>
          <a:prstGeom prst="rect">
            <a:avLst/>
          </a:prstGeom>
          <a:solidFill>
            <a:srgbClr val="F9FAFB"/>
          </a:solidFill>
          <a:ln w="12700">
            <a:miter lim="400000"/>
          </a:ln>
        </p:spPr>
        <p:txBody>
          <a:bodyPr lIns="45719" rIns="45719"/>
          <a:lstStyle/>
          <a:p>
            <a:endParaRPr/>
          </a:p>
        </p:txBody>
      </p:sp>
      <p:sp>
        <p:nvSpPr>
          <p:cNvPr id="173" name="Text 3"/>
          <p:cNvSpPr txBox="1"/>
          <p:nvPr/>
        </p:nvSpPr>
        <p:spPr>
          <a:xfrm>
            <a:off x="3465576" y="3335528"/>
            <a:ext cx="295352"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b="1">
                <a:solidFill>
                  <a:srgbClr val="F3F4F6">
                    <a:alpha val="60000"/>
                  </a:srgbClr>
                </a:solidFill>
                <a:latin typeface="Noto Serif KR"/>
                <a:ea typeface="Noto Serif KR"/>
                <a:cs typeface="Noto Serif KR"/>
                <a:sym typeface="Noto Serif KR"/>
              </a:defRPr>
            </a:lvl1pPr>
          </a:lstStyle>
          <a:p>
            <a:r>
              <a:t>02</a:t>
            </a:r>
          </a:p>
        </p:txBody>
      </p:sp>
      <p:sp>
        <p:nvSpPr>
          <p:cNvPr id="174" name="Shape 4"/>
          <p:cNvSpPr/>
          <p:nvPr/>
        </p:nvSpPr>
        <p:spPr>
          <a:xfrm>
            <a:off x="7100366" y="857707"/>
            <a:ext cx="12701" cy="5143501"/>
          </a:xfrm>
          <a:prstGeom prst="rect">
            <a:avLst/>
          </a:prstGeom>
          <a:solidFill>
            <a:srgbClr val="E5E7EB"/>
          </a:solidFill>
          <a:ln w="12700">
            <a:miter lim="400000"/>
          </a:ln>
        </p:spPr>
        <p:txBody>
          <a:bodyPr lIns="45719" rIns="45719"/>
          <a:lstStyle/>
          <a:p>
            <a:endParaRPr/>
          </a:p>
        </p:txBody>
      </p:sp>
      <p:sp>
        <p:nvSpPr>
          <p:cNvPr id="175" name="Shape 5"/>
          <p:cNvSpPr/>
          <p:nvPr/>
        </p:nvSpPr>
        <p:spPr>
          <a:xfrm>
            <a:off x="7112203" y="0"/>
            <a:ext cx="5086808" cy="6858000"/>
          </a:xfrm>
          <a:prstGeom prst="rect">
            <a:avLst/>
          </a:prstGeom>
          <a:solidFill>
            <a:srgbClr val="FFFFFF"/>
          </a:solidFill>
          <a:ln w="12700">
            <a:miter lim="400000"/>
          </a:ln>
        </p:spPr>
        <p:txBody>
          <a:bodyPr lIns="45719" rIns="45719"/>
          <a:lstStyle/>
          <a:p>
            <a:endParaRPr/>
          </a:p>
        </p:txBody>
      </p:sp>
      <p:sp>
        <p:nvSpPr>
          <p:cNvPr id="176" name="Shape 6"/>
          <p:cNvSpPr/>
          <p:nvPr/>
        </p:nvSpPr>
        <p:spPr>
          <a:xfrm>
            <a:off x="7721193" y="651104"/>
            <a:ext cx="304496" cy="12701"/>
          </a:xfrm>
          <a:prstGeom prst="rect">
            <a:avLst/>
          </a:prstGeom>
          <a:solidFill>
            <a:srgbClr val="EF4444"/>
          </a:solidFill>
          <a:ln w="12700">
            <a:miter lim="400000"/>
          </a:ln>
        </p:spPr>
        <p:txBody>
          <a:bodyPr lIns="45719" rIns="45719"/>
          <a:lstStyle/>
          <a:p>
            <a:endParaRPr/>
          </a:p>
        </p:txBody>
      </p:sp>
      <p:sp>
        <p:nvSpPr>
          <p:cNvPr id="177" name="Text 7"/>
          <p:cNvSpPr txBox="1"/>
          <p:nvPr/>
        </p:nvSpPr>
        <p:spPr>
          <a:xfrm>
            <a:off x="8140903" y="583031"/>
            <a:ext cx="1105511"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b="1">
                <a:solidFill>
                  <a:srgbClr val="EF4444"/>
                </a:solidFill>
                <a:latin typeface="Noto Sans KR"/>
                <a:ea typeface="Noto Sans KR"/>
                <a:cs typeface="Noto Sans KR"/>
                <a:sym typeface="Noto Sans KR"/>
              </a:defRPr>
            </a:lvl1pPr>
          </a:lstStyle>
          <a:p>
            <a:r>
              <a:t>FEATURED SERIES</a:t>
            </a:r>
          </a:p>
        </p:txBody>
      </p:sp>
      <p:sp>
        <p:nvSpPr>
          <p:cNvPr id="178" name="Text 8"/>
          <p:cNvSpPr txBox="1"/>
          <p:nvPr/>
        </p:nvSpPr>
        <p:spPr>
          <a:xfrm>
            <a:off x="7721193" y="897737"/>
            <a:ext cx="3600908" cy="406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700" b="1">
                <a:solidFill>
                  <a:srgbClr val="111827"/>
                </a:solidFill>
                <a:latin typeface="Noto Serif KR"/>
                <a:ea typeface="Noto Serif KR"/>
                <a:cs typeface="Noto Serif KR"/>
                <a:sym typeface="Noto Serif KR"/>
              </a:defRPr>
            </a:lvl1pPr>
          </a:lstStyle>
          <a:p>
            <a:r>
              <a:t>No man is an Island</a:t>
            </a:r>
          </a:p>
        </p:txBody>
      </p:sp>
      <p:sp>
        <p:nvSpPr>
          <p:cNvPr id="179" name="Text 9"/>
          <p:cNvSpPr txBox="1"/>
          <p:nvPr/>
        </p:nvSpPr>
        <p:spPr>
          <a:xfrm>
            <a:off x="7721193" y="1443380"/>
            <a:ext cx="3049939"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500">
                <a:solidFill>
                  <a:srgbClr val="6B7280"/>
                </a:solidFill>
                <a:latin typeface="Noto Sans KR"/>
                <a:ea typeface="Noto Sans KR"/>
                <a:cs typeface="Noto Sans KR"/>
                <a:sym typeface="Noto Sans KR"/>
              </a:defRPr>
            </a:lvl1pPr>
          </a:lstStyle>
          <a:p>
            <a:r>
              <a:t>ANONYMOUS PORTRAIT</a:t>
            </a:r>
          </a:p>
        </p:txBody>
      </p:sp>
      <p:sp>
        <p:nvSpPr>
          <p:cNvPr id="180" name="Shape 10"/>
          <p:cNvSpPr/>
          <p:nvPr/>
        </p:nvSpPr>
        <p:spPr>
          <a:xfrm>
            <a:off x="7721193" y="2152498"/>
            <a:ext cx="19203" cy="267006"/>
          </a:xfrm>
          <a:prstGeom prst="rect">
            <a:avLst/>
          </a:prstGeom>
          <a:solidFill>
            <a:srgbClr val="111827"/>
          </a:solidFill>
          <a:ln w="12700">
            <a:miter lim="400000"/>
          </a:ln>
        </p:spPr>
        <p:txBody>
          <a:bodyPr lIns="45719" rIns="45719"/>
          <a:lstStyle/>
          <a:p>
            <a:endParaRPr/>
          </a:p>
        </p:txBody>
      </p:sp>
      <p:sp>
        <p:nvSpPr>
          <p:cNvPr id="181" name="Text 11"/>
          <p:cNvSpPr txBox="1"/>
          <p:nvPr/>
        </p:nvSpPr>
        <p:spPr>
          <a:xfrm>
            <a:off x="7893101" y="2179076"/>
            <a:ext cx="1901039" cy="2147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300">
                <a:solidFill>
                  <a:srgbClr val="1F2937"/>
                </a:solidFill>
                <a:latin typeface="Noto Serif KR"/>
                <a:ea typeface="Noto Serif KR"/>
                <a:cs typeface="Noto Serif KR"/>
                <a:sym typeface="Noto Serif KR"/>
              </a:defRPr>
            </a:lvl1pPr>
          </a:lstStyle>
          <a:p>
            <a:r>
              <a:t>익명화된 현대인의 초상</a:t>
            </a:r>
          </a:p>
        </p:txBody>
      </p:sp>
      <p:sp>
        <p:nvSpPr>
          <p:cNvPr id="182" name="Shape 15"/>
          <p:cNvSpPr/>
          <p:nvPr/>
        </p:nvSpPr>
        <p:spPr>
          <a:xfrm>
            <a:off x="7721193" y="5389523"/>
            <a:ext cx="3866999" cy="12701"/>
          </a:xfrm>
          <a:prstGeom prst="rect">
            <a:avLst/>
          </a:prstGeom>
          <a:solidFill>
            <a:srgbClr val="F3F4F6"/>
          </a:solidFill>
          <a:ln w="12700">
            <a:miter lim="400000"/>
          </a:ln>
        </p:spPr>
        <p:txBody>
          <a:bodyPr lIns="45719" rIns="45719"/>
          <a:lstStyle/>
          <a:p>
            <a:endParaRPr/>
          </a:p>
        </p:txBody>
      </p:sp>
      <p:sp>
        <p:nvSpPr>
          <p:cNvPr id="183" name="Text 16"/>
          <p:cNvSpPr txBox="1"/>
          <p:nvPr/>
        </p:nvSpPr>
        <p:spPr>
          <a:xfrm>
            <a:off x="7721193" y="5707329"/>
            <a:ext cx="790957"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MATERIALS</a:t>
            </a:r>
          </a:p>
        </p:txBody>
      </p:sp>
      <p:sp>
        <p:nvSpPr>
          <p:cNvPr id="184" name="Text 17"/>
          <p:cNvSpPr txBox="1"/>
          <p:nvPr/>
        </p:nvSpPr>
        <p:spPr>
          <a:xfrm>
            <a:off x="7721193" y="5915405"/>
            <a:ext cx="1452983" cy="152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374151"/>
                </a:solidFill>
                <a:latin typeface="Noto Serif KR"/>
                <a:ea typeface="Noto Serif KR"/>
                <a:cs typeface="Noto Serif KR"/>
                <a:sym typeface="Noto Serif KR"/>
              </a:defRPr>
            </a:lvl1pPr>
          </a:lstStyle>
          <a:p>
            <a:r>
              <a:t>Fabric, Mixed media</a:t>
            </a:r>
          </a:p>
        </p:txBody>
      </p:sp>
      <p:sp>
        <p:nvSpPr>
          <p:cNvPr id="185" name="Text 18"/>
          <p:cNvSpPr txBox="1"/>
          <p:nvPr/>
        </p:nvSpPr>
        <p:spPr>
          <a:xfrm>
            <a:off x="9728302" y="5707329"/>
            <a:ext cx="838506"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TECHNIQUE</a:t>
            </a:r>
          </a:p>
        </p:txBody>
      </p:sp>
      <p:sp>
        <p:nvSpPr>
          <p:cNvPr id="186" name="Text 19"/>
          <p:cNvSpPr txBox="1"/>
          <p:nvPr/>
        </p:nvSpPr>
        <p:spPr>
          <a:xfrm>
            <a:off x="9728302" y="5934303"/>
            <a:ext cx="1528878" cy="30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374151"/>
                </a:solidFill>
                <a:latin typeface="Noto Serif KR"/>
                <a:ea typeface="Noto Serif KR"/>
                <a:cs typeface="Noto Serif KR"/>
                <a:sym typeface="Noto Serif KR"/>
              </a:defRPr>
            </a:lvl1pPr>
          </a:lstStyle>
          <a:p>
            <a:r>
              <a:t>Collage &amp; Installation Painting</a:t>
            </a:r>
          </a:p>
        </p:txBody>
      </p:sp>
      <p:sp>
        <p:nvSpPr>
          <p:cNvPr id="187" name="Shape 20"/>
          <p:cNvSpPr/>
          <p:nvPr/>
        </p:nvSpPr>
        <p:spPr>
          <a:xfrm>
            <a:off x="11296498" y="6495898"/>
            <a:ext cx="57608" cy="57608"/>
          </a:xfrm>
          <a:prstGeom prst="roundRect">
            <a:avLst>
              <a:gd name="adj" fmla="val 50000"/>
            </a:avLst>
          </a:prstGeom>
          <a:solidFill>
            <a:srgbClr val="D1D5DB"/>
          </a:solidFill>
          <a:ln w="12700">
            <a:miter lim="400000"/>
          </a:ln>
        </p:spPr>
        <p:txBody>
          <a:bodyPr lIns="45719" rIns="45719"/>
          <a:lstStyle/>
          <a:p>
            <a:endParaRPr/>
          </a:p>
        </p:txBody>
      </p:sp>
      <p:sp>
        <p:nvSpPr>
          <p:cNvPr id="188" name="Shape 21"/>
          <p:cNvSpPr/>
          <p:nvPr/>
        </p:nvSpPr>
        <p:spPr>
          <a:xfrm>
            <a:off x="11430000" y="6495898"/>
            <a:ext cx="57607" cy="57608"/>
          </a:xfrm>
          <a:prstGeom prst="roundRect">
            <a:avLst>
              <a:gd name="adj" fmla="val 50000"/>
            </a:avLst>
          </a:prstGeom>
          <a:solidFill>
            <a:srgbClr val="1F2937"/>
          </a:solidFill>
          <a:ln w="12700">
            <a:miter lim="400000"/>
          </a:ln>
        </p:spPr>
        <p:txBody>
          <a:bodyPr lIns="45719" rIns="45719"/>
          <a:lstStyle/>
          <a:p>
            <a:endParaRPr/>
          </a:p>
        </p:txBody>
      </p:sp>
      <p:sp>
        <p:nvSpPr>
          <p:cNvPr id="189" name="Shape 22"/>
          <p:cNvSpPr/>
          <p:nvPr/>
        </p:nvSpPr>
        <p:spPr>
          <a:xfrm>
            <a:off x="11563501" y="6495898"/>
            <a:ext cx="57608" cy="57608"/>
          </a:xfrm>
          <a:prstGeom prst="roundRect">
            <a:avLst>
              <a:gd name="adj" fmla="val 50000"/>
            </a:avLst>
          </a:prstGeom>
          <a:solidFill>
            <a:srgbClr val="D1D5DB"/>
          </a:solidFill>
          <a:ln w="12700">
            <a:miter lim="400000"/>
          </a:ln>
        </p:spPr>
        <p:txBody>
          <a:bodyPr lIns="45719" rIns="45719"/>
          <a:lstStyle/>
          <a:p>
            <a:endParaRPr/>
          </a:p>
        </p:txBody>
      </p:sp>
      <p:sp>
        <p:nvSpPr>
          <p:cNvPr id="190" name="Shape 23"/>
          <p:cNvSpPr/>
          <p:nvPr/>
        </p:nvSpPr>
        <p:spPr>
          <a:xfrm>
            <a:off x="11697004" y="6495898"/>
            <a:ext cx="57608" cy="57608"/>
          </a:xfrm>
          <a:prstGeom prst="roundRect">
            <a:avLst>
              <a:gd name="adj" fmla="val 50000"/>
            </a:avLst>
          </a:prstGeom>
          <a:solidFill>
            <a:srgbClr val="D1D5DB"/>
          </a:solidFill>
          <a:ln w="12700">
            <a:miter lim="400000"/>
          </a:ln>
        </p:spPr>
        <p:txBody>
          <a:bodyPr lIns="45719" rIns="45719"/>
          <a:lstStyle/>
          <a:p>
            <a:endParaRPr/>
          </a:p>
        </p:txBody>
      </p:sp>
      <p:sp>
        <p:nvSpPr>
          <p:cNvPr id="191" name="Shape 24"/>
          <p:cNvSpPr/>
          <p:nvPr/>
        </p:nvSpPr>
        <p:spPr>
          <a:xfrm>
            <a:off x="11829592" y="6495898"/>
            <a:ext cx="57608" cy="57608"/>
          </a:xfrm>
          <a:prstGeom prst="roundRect">
            <a:avLst>
              <a:gd name="adj" fmla="val 50000"/>
            </a:avLst>
          </a:prstGeom>
          <a:solidFill>
            <a:srgbClr val="D1D5DB"/>
          </a:solidFill>
          <a:ln w="12700">
            <a:miter lim="400000"/>
          </a:ln>
        </p:spPr>
        <p:txBody>
          <a:bodyPr lIns="45719" rIns="45719"/>
          <a:lstStyle/>
          <a:p>
            <a:endParaRPr/>
          </a:p>
        </p:txBody>
      </p:sp>
      <p:pic>
        <p:nvPicPr>
          <p:cNvPr id="192" name="Image 0" descr="Image 0"/>
          <p:cNvPicPr>
            <a:picLocks noChangeAspect="1"/>
          </p:cNvPicPr>
          <p:nvPr/>
        </p:nvPicPr>
        <p:blipFill>
          <a:blip r:embed="rId2"/>
          <a:srcRect t="97" b="96"/>
          <a:stretch>
            <a:fillRect/>
          </a:stretch>
        </p:blipFill>
        <p:spPr>
          <a:xfrm>
            <a:off x="306067" y="318852"/>
            <a:ext cx="2423275" cy="3091888"/>
          </a:xfrm>
          <a:prstGeom prst="rect">
            <a:avLst/>
          </a:prstGeom>
          <a:ln w="12700">
            <a:miter lim="400000"/>
          </a:ln>
        </p:spPr>
      </p:pic>
      <p:pic>
        <p:nvPicPr>
          <p:cNvPr id="193" name="Image 1" descr="Image 1"/>
          <p:cNvPicPr>
            <a:picLocks noChangeAspect="1"/>
          </p:cNvPicPr>
          <p:nvPr/>
        </p:nvPicPr>
        <p:blipFill>
          <a:blip r:embed="rId3"/>
          <a:srcRect l="9" r="9"/>
          <a:stretch>
            <a:fillRect/>
          </a:stretch>
        </p:blipFill>
        <p:spPr>
          <a:xfrm>
            <a:off x="2956825" y="807088"/>
            <a:ext cx="2022169" cy="2605120"/>
          </a:xfrm>
          <a:prstGeom prst="rect">
            <a:avLst/>
          </a:prstGeom>
          <a:ln w="12700">
            <a:miter lim="400000"/>
          </a:ln>
        </p:spPr>
      </p:pic>
      <p:pic>
        <p:nvPicPr>
          <p:cNvPr id="194" name="Image 2" descr="Image 2"/>
          <p:cNvPicPr>
            <a:picLocks noChangeAspect="1"/>
          </p:cNvPicPr>
          <p:nvPr/>
        </p:nvPicPr>
        <p:blipFill>
          <a:blip r:embed="rId4"/>
          <a:srcRect t="88" b="87"/>
          <a:stretch>
            <a:fillRect/>
          </a:stretch>
        </p:blipFill>
        <p:spPr>
          <a:xfrm>
            <a:off x="5206343" y="1457053"/>
            <a:ext cx="1528805" cy="1946121"/>
          </a:xfrm>
          <a:prstGeom prst="rect">
            <a:avLst/>
          </a:prstGeom>
          <a:ln w="12700">
            <a:miter lim="400000"/>
          </a:ln>
        </p:spPr>
      </p:pic>
      <p:pic>
        <p:nvPicPr>
          <p:cNvPr id="195" name="Image 0" descr="Image 0"/>
          <p:cNvPicPr>
            <a:picLocks noChangeAspect="1"/>
          </p:cNvPicPr>
          <p:nvPr/>
        </p:nvPicPr>
        <p:blipFill>
          <a:blip r:embed="rId5"/>
          <a:stretch>
            <a:fillRect/>
          </a:stretch>
        </p:blipFill>
        <p:spPr>
          <a:xfrm>
            <a:off x="352229" y="3522224"/>
            <a:ext cx="2330995" cy="3215165"/>
          </a:xfrm>
          <a:prstGeom prst="rect">
            <a:avLst/>
          </a:prstGeom>
          <a:ln w="12700">
            <a:miter lim="400000"/>
          </a:ln>
        </p:spPr>
      </p:pic>
      <p:sp>
        <p:nvSpPr>
          <p:cNvPr id="196" name="Text 4"/>
          <p:cNvSpPr txBox="1"/>
          <p:nvPr/>
        </p:nvSpPr>
        <p:spPr>
          <a:xfrm>
            <a:off x="7722107" y="2548992"/>
            <a:ext cx="3866999" cy="9573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just">
              <a:lnSpc>
                <a:spcPts val="1900"/>
              </a:lnSpc>
              <a:defRPr sz="1000">
                <a:solidFill>
                  <a:srgbClr val="212121"/>
                </a:solidFill>
                <a:latin typeface="Georgia"/>
                <a:ea typeface="Georgia"/>
                <a:cs typeface="Georgia"/>
                <a:sym typeface="Georgia"/>
              </a:defRPr>
            </a:lvl1pPr>
          </a:lstStyle>
          <a:p>
            <a:r>
              <a:t>존 던(John Donne)의 명상록에서 빌려온 제목이다. "어떤 인간도 그 자체로 완전한 섬이 아니다. 모든 인간은 대륙의 한 조각이며, 본토의 일부이다." 정장을 입고 걸어가는 익명의 인물들은 고립되어 보이지만, 화면을 가로지르는 균열의 패턴으로 연결되어 있다.</a:t>
            </a:r>
          </a:p>
        </p:txBody>
      </p:sp>
      <p:sp>
        <p:nvSpPr>
          <p:cNvPr id="197" name="Text 5"/>
          <p:cNvSpPr txBox="1"/>
          <p:nvPr/>
        </p:nvSpPr>
        <p:spPr>
          <a:xfrm>
            <a:off x="7721193" y="3635814"/>
            <a:ext cx="3918759" cy="11986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just">
              <a:lnSpc>
                <a:spcPts val="1900"/>
              </a:lnSpc>
              <a:defRPr sz="1000">
                <a:solidFill>
                  <a:srgbClr val="212121"/>
                </a:solidFill>
                <a:latin typeface="Georgia"/>
                <a:ea typeface="Georgia"/>
                <a:cs typeface="Georgia"/>
                <a:sym typeface="Georgia"/>
              </a:defRPr>
            </a:lvl1pPr>
          </a:lstStyle>
          <a:p>
            <a:r>
              <a:t>백토의 갈라짐과 마른 풀, 식물의 질감이 만나는 지점에서 분리와 연결의 변증법이 펼쳐진다. 인물들의 얼굴은 보이지 않고, 뒷모습만이 화면을 채운다. 이들은 어디로 가는 것일까? 작가는 답을 제시하지 않는다. 다만 걸어가는 행위 자체가, 그리고 그 행위를 공유하는 것 자체가 연결임을 암시할 뿐이다.</a:t>
            </a:r>
          </a:p>
        </p:txBody>
      </p:sp>
      <p:sp>
        <p:nvSpPr>
          <p:cNvPr id="198" name="Text 6"/>
          <p:cNvSpPr txBox="1"/>
          <p:nvPr/>
        </p:nvSpPr>
        <p:spPr>
          <a:xfrm>
            <a:off x="7722107" y="4892440"/>
            <a:ext cx="3866999" cy="4747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just">
              <a:lnSpc>
                <a:spcPts val="1900"/>
              </a:lnSpc>
              <a:defRPr sz="1000">
                <a:solidFill>
                  <a:srgbClr val="212121"/>
                </a:solidFill>
                <a:latin typeface="Georgia"/>
                <a:ea typeface="Georgia"/>
                <a:cs typeface="Georgia"/>
                <a:sym typeface="Georgia"/>
              </a:defRPr>
            </a:lvl1pPr>
          </a:lstStyle>
          <a:p>
            <a:r>
              <a:t>유리 안에 담긴 식물과 백토의 조합은 보호와 고립, 생명과 정지 사이의 미묘한 긴장을 만들어낸다.</a:t>
            </a:r>
          </a:p>
        </p:txBody>
      </p:sp>
      <p:pic>
        <p:nvPicPr>
          <p:cNvPr id="199" name="Image 1" descr="Image 1"/>
          <p:cNvPicPr>
            <a:picLocks noChangeAspect="1"/>
          </p:cNvPicPr>
          <p:nvPr/>
        </p:nvPicPr>
        <p:blipFill>
          <a:blip r:embed="rId6"/>
          <a:stretch>
            <a:fillRect/>
          </a:stretch>
        </p:blipFill>
        <p:spPr>
          <a:xfrm>
            <a:off x="2935483" y="3877112"/>
            <a:ext cx="2064763" cy="2847950"/>
          </a:xfrm>
          <a:prstGeom prst="rect">
            <a:avLst/>
          </a:prstGeom>
          <a:ln w="12700">
            <a:miter lim="400000"/>
          </a:ln>
        </p:spPr>
      </p:pic>
      <p:pic>
        <p:nvPicPr>
          <p:cNvPr id="200" name="Image 2" descr="Image 2"/>
          <p:cNvPicPr>
            <a:picLocks noChangeAspect="1"/>
          </p:cNvPicPr>
          <p:nvPr/>
        </p:nvPicPr>
        <p:blipFill>
          <a:blip r:embed="rId7"/>
          <a:stretch>
            <a:fillRect/>
          </a:stretch>
        </p:blipFill>
        <p:spPr>
          <a:xfrm>
            <a:off x="5291785" y="4533326"/>
            <a:ext cx="1528878" cy="2108797"/>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Shape 0"/>
          <p:cNvSpPr/>
          <p:nvPr/>
        </p:nvSpPr>
        <p:spPr>
          <a:xfrm>
            <a:off x="-1" y="-736600"/>
            <a:ext cx="12191697" cy="6858000"/>
          </a:xfrm>
          <a:prstGeom prst="rect">
            <a:avLst/>
          </a:prstGeom>
          <a:solidFill>
            <a:srgbClr val="F3F4F6"/>
          </a:solidFill>
          <a:ln w="12700">
            <a:miter lim="400000"/>
          </a:ln>
        </p:spPr>
        <p:txBody>
          <a:bodyPr lIns="45719" rIns="45719"/>
          <a:lstStyle/>
          <a:p>
            <a:endParaRPr/>
          </a:p>
        </p:txBody>
      </p:sp>
      <p:sp>
        <p:nvSpPr>
          <p:cNvPr id="203" name="Shape 1"/>
          <p:cNvSpPr/>
          <p:nvPr/>
        </p:nvSpPr>
        <p:spPr>
          <a:xfrm>
            <a:off x="-1" y="-736600"/>
            <a:ext cx="12191697" cy="6858000"/>
          </a:xfrm>
          <a:prstGeom prst="rect">
            <a:avLst/>
          </a:prstGeom>
          <a:solidFill>
            <a:srgbClr val="FFFFFF"/>
          </a:solidFill>
          <a:ln w="12700">
            <a:miter lim="400000"/>
          </a:ln>
        </p:spPr>
        <p:txBody>
          <a:bodyPr lIns="45719" rIns="45719"/>
          <a:lstStyle/>
          <a:p>
            <a:endParaRPr/>
          </a:p>
        </p:txBody>
      </p:sp>
      <p:sp>
        <p:nvSpPr>
          <p:cNvPr id="204" name="Shape 2"/>
          <p:cNvSpPr/>
          <p:nvPr/>
        </p:nvSpPr>
        <p:spPr>
          <a:xfrm>
            <a:off x="609905" y="1799589"/>
            <a:ext cx="10972801" cy="12701"/>
          </a:xfrm>
          <a:prstGeom prst="rect">
            <a:avLst/>
          </a:prstGeom>
          <a:solidFill>
            <a:srgbClr val="F3F4F6"/>
          </a:solidFill>
          <a:ln w="12700">
            <a:miter lim="400000"/>
          </a:ln>
        </p:spPr>
        <p:txBody>
          <a:bodyPr lIns="45719" rIns="45719"/>
          <a:lstStyle/>
          <a:p>
            <a:endParaRPr/>
          </a:p>
        </p:txBody>
      </p:sp>
      <p:sp>
        <p:nvSpPr>
          <p:cNvPr id="205" name="Shape 3"/>
          <p:cNvSpPr/>
          <p:nvPr/>
        </p:nvSpPr>
        <p:spPr>
          <a:xfrm>
            <a:off x="609905" y="679450"/>
            <a:ext cx="228601" cy="12700"/>
          </a:xfrm>
          <a:prstGeom prst="rect">
            <a:avLst/>
          </a:prstGeom>
          <a:solidFill>
            <a:srgbClr val="F59E0B"/>
          </a:solidFill>
          <a:ln w="12700">
            <a:miter lim="400000"/>
          </a:ln>
        </p:spPr>
        <p:txBody>
          <a:bodyPr lIns="45719" rIns="45719"/>
          <a:lstStyle/>
          <a:p>
            <a:endParaRPr/>
          </a:p>
        </p:txBody>
      </p:sp>
      <p:sp>
        <p:nvSpPr>
          <p:cNvPr id="206" name="Text 4"/>
          <p:cNvSpPr txBox="1"/>
          <p:nvPr/>
        </p:nvSpPr>
        <p:spPr>
          <a:xfrm>
            <a:off x="952805" y="611377"/>
            <a:ext cx="1276503"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b="1">
                <a:solidFill>
                  <a:srgbClr val="D97706"/>
                </a:solidFill>
                <a:latin typeface="Noto Sans KR"/>
                <a:ea typeface="Noto Sans KR"/>
                <a:cs typeface="Noto Sans KR"/>
                <a:sym typeface="Noto Sans KR"/>
              </a:defRPr>
            </a:lvl1pPr>
          </a:lstStyle>
          <a:p>
            <a:r>
              <a:t>FEATURED SERIES 03</a:t>
            </a:r>
          </a:p>
        </p:txBody>
      </p:sp>
      <p:sp>
        <p:nvSpPr>
          <p:cNvPr id="207" name="Text 5"/>
          <p:cNvSpPr txBox="1"/>
          <p:nvPr/>
        </p:nvSpPr>
        <p:spPr>
          <a:xfrm>
            <a:off x="609904" y="837269"/>
            <a:ext cx="2029056" cy="4304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700" b="1">
                <a:solidFill>
                  <a:srgbClr val="111827"/>
                </a:solidFill>
                <a:latin typeface="Noto Serif KR"/>
                <a:ea typeface="Noto Serif KR"/>
                <a:cs typeface="Noto Serif KR"/>
                <a:sym typeface="Noto Serif KR"/>
              </a:defRPr>
            </a:lvl1pPr>
          </a:lstStyle>
          <a:p>
            <a:r>
              <a:t>완전한 딱지</a:t>
            </a:r>
          </a:p>
        </p:txBody>
      </p:sp>
      <p:sp>
        <p:nvSpPr>
          <p:cNvPr id="208" name="Text 6"/>
          <p:cNvSpPr txBox="1"/>
          <p:nvPr/>
        </p:nvSpPr>
        <p:spPr>
          <a:xfrm>
            <a:off x="609905" y="1337208"/>
            <a:ext cx="1300278"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300">
                <a:solidFill>
                  <a:srgbClr val="6B7280"/>
                </a:solidFill>
                <a:latin typeface="Noto Sans KR"/>
                <a:ea typeface="Noto Sans KR"/>
                <a:cs typeface="Noto Sans KR"/>
                <a:sym typeface="Noto Sans KR"/>
              </a:defRPr>
            </a:lvl1pPr>
          </a:lstStyle>
          <a:p>
            <a:r>
              <a:t>PERFECT SCAB</a:t>
            </a:r>
          </a:p>
        </p:txBody>
      </p:sp>
      <p:sp>
        <p:nvSpPr>
          <p:cNvPr id="209" name="Text 7"/>
          <p:cNvSpPr txBox="1"/>
          <p:nvPr/>
        </p:nvSpPr>
        <p:spPr>
          <a:xfrm>
            <a:off x="7700161" y="1162480"/>
            <a:ext cx="3986785" cy="161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4B5563"/>
                </a:solidFill>
                <a:latin typeface="Noto Sans KR"/>
                <a:ea typeface="Noto Sans KR"/>
                <a:cs typeface="Noto Sans KR"/>
                <a:sym typeface="Noto Sans KR"/>
              </a:defRPr>
            </a:lvl1pPr>
          </a:lstStyle>
          <a:p>
            <a:r>
              <a:t>상처가 아물어가는 과정에서 형성되는 '딱지'의 물질성에 주목했습니다.</a:t>
            </a:r>
          </a:p>
        </p:txBody>
      </p:sp>
      <p:sp>
        <p:nvSpPr>
          <p:cNvPr id="210" name="Text 8"/>
          <p:cNvSpPr txBox="1"/>
          <p:nvPr/>
        </p:nvSpPr>
        <p:spPr>
          <a:xfrm>
            <a:off x="6881773" y="1379193"/>
            <a:ext cx="4806087" cy="161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4B5563"/>
                </a:solidFill>
                <a:latin typeface="Noto Sans KR"/>
                <a:ea typeface="Noto Sans KR"/>
                <a:cs typeface="Noto Sans KR"/>
                <a:sym typeface="Noto Sans KR"/>
              </a:defRPr>
            </a:lvl1pPr>
          </a:lstStyle>
          <a:p>
            <a:r>
              <a:t>윤기 흐르는 두터운 안료와 직물 수트의 대비는 치유의 흔적을 감각적으로 드러냅니다.</a:t>
            </a:r>
          </a:p>
        </p:txBody>
      </p:sp>
      <p:sp>
        <p:nvSpPr>
          <p:cNvPr id="211" name="Shape 9"/>
          <p:cNvSpPr/>
          <p:nvPr/>
        </p:nvSpPr>
        <p:spPr>
          <a:xfrm>
            <a:off x="609905" y="2266798"/>
            <a:ext cx="3353106" cy="3972155"/>
          </a:xfrm>
          <a:prstGeom prst="roundRect">
            <a:avLst>
              <a:gd name="adj" fmla="val 155"/>
            </a:avLst>
          </a:prstGeom>
          <a:solidFill>
            <a:srgbClr val="F9FAFB"/>
          </a:solidFill>
          <a:ln w="12700">
            <a:miter lim="400000"/>
          </a:ln>
        </p:spPr>
        <p:txBody>
          <a:bodyPr lIns="45719" rIns="45719"/>
          <a:lstStyle/>
          <a:p>
            <a:endParaRPr/>
          </a:p>
        </p:txBody>
      </p:sp>
      <p:pic>
        <p:nvPicPr>
          <p:cNvPr id="212" name="Image 0" descr="Image 0"/>
          <p:cNvPicPr>
            <a:picLocks noChangeAspect="1"/>
          </p:cNvPicPr>
          <p:nvPr/>
        </p:nvPicPr>
        <p:blipFill>
          <a:blip r:embed="rId2"/>
          <a:srcRect l="110" r="110"/>
          <a:stretch>
            <a:fillRect/>
          </a:stretch>
        </p:blipFill>
        <p:spPr>
          <a:xfrm>
            <a:off x="761694" y="1911501"/>
            <a:ext cx="3047696" cy="3666745"/>
          </a:xfrm>
          <a:prstGeom prst="rect">
            <a:avLst/>
          </a:prstGeom>
          <a:ln w="12700">
            <a:miter lim="400000"/>
          </a:ln>
        </p:spPr>
      </p:pic>
      <p:sp>
        <p:nvSpPr>
          <p:cNvPr id="213" name="Text 10"/>
          <p:cNvSpPr txBox="1"/>
          <p:nvPr/>
        </p:nvSpPr>
        <p:spPr>
          <a:xfrm>
            <a:off x="1566366" y="5716066"/>
            <a:ext cx="1576428"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300">
                <a:solidFill>
                  <a:srgbClr val="111827"/>
                </a:solidFill>
                <a:latin typeface="Noto Serif KR"/>
                <a:ea typeface="Noto Serif KR"/>
                <a:cs typeface="Noto Serif KR"/>
                <a:sym typeface="Noto Serif KR"/>
              </a:defRPr>
            </a:lvl1pPr>
          </a:lstStyle>
          <a:p>
            <a:r>
              <a:t>Scab Portrait #01</a:t>
            </a:r>
          </a:p>
        </p:txBody>
      </p:sp>
      <p:sp>
        <p:nvSpPr>
          <p:cNvPr id="214" name="Text 11"/>
          <p:cNvSpPr txBox="1"/>
          <p:nvPr/>
        </p:nvSpPr>
        <p:spPr>
          <a:xfrm>
            <a:off x="1674266" y="5991504"/>
            <a:ext cx="1314908"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900">
                <a:solidFill>
                  <a:srgbClr val="6B7280"/>
                </a:solidFill>
                <a:latin typeface="Noto Sans KR"/>
                <a:ea typeface="Noto Sans KR"/>
                <a:cs typeface="Noto Sans KR"/>
                <a:sym typeface="Noto Sans KR"/>
              </a:defRPr>
            </a:lvl1pPr>
          </a:lstStyle>
          <a:p>
            <a:r>
              <a:t>MIXED MEDIA, 2024</a:t>
            </a:r>
          </a:p>
        </p:txBody>
      </p:sp>
      <p:sp>
        <p:nvSpPr>
          <p:cNvPr id="215" name="Shape 12"/>
          <p:cNvSpPr/>
          <p:nvPr/>
        </p:nvSpPr>
        <p:spPr>
          <a:xfrm>
            <a:off x="2133294" y="6254039"/>
            <a:ext cx="304496" cy="12701"/>
          </a:xfrm>
          <a:prstGeom prst="rect">
            <a:avLst/>
          </a:prstGeom>
          <a:solidFill>
            <a:srgbClr val="D1D5DB"/>
          </a:solidFill>
          <a:ln w="12700">
            <a:miter lim="400000"/>
          </a:ln>
        </p:spPr>
        <p:txBody>
          <a:bodyPr lIns="45719" rIns="45719"/>
          <a:lstStyle/>
          <a:p>
            <a:endParaRPr/>
          </a:p>
        </p:txBody>
      </p:sp>
      <p:sp>
        <p:nvSpPr>
          <p:cNvPr id="216" name="Shape 13"/>
          <p:cNvSpPr/>
          <p:nvPr/>
        </p:nvSpPr>
        <p:spPr>
          <a:xfrm>
            <a:off x="4419294" y="2271370"/>
            <a:ext cx="3353106" cy="3962096"/>
          </a:xfrm>
          <a:prstGeom prst="roundRect">
            <a:avLst>
              <a:gd name="adj" fmla="val 155"/>
            </a:avLst>
          </a:prstGeom>
          <a:solidFill>
            <a:srgbClr val="F9FAFB"/>
          </a:solidFill>
          <a:ln w="12700">
            <a:miter lim="400000"/>
          </a:ln>
        </p:spPr>
        <p:txBody>
          <a:bodyPr lIns="45719" rIns="45719"/>
          <a:lstStyle/>
          <a:p>
            <a:endParaRPr/>
          </a:p>
        </p:txBody>
      </p:sp>
      <p:pic>
        <p:nvPicPr>
          <p:cNvPr id="217" name="Image 1" descr="Image 1"/>
          <p:cNvPicPr>
            <a:picLocks noChangeAspect="1"/>
          </p:cNvPicPr>
          <p:nvPr/>
        </p:nvPicPr>
        <p:blipFill>
          <a:blip r:embed="rId3"/>
          <a:srcRect l="102" r="102"/>
          <a:stretch>
            <a:fillRect/>
          </a:stretch>
        </p:blipFill>
        <p:spPr>
          <a:xfrm>
            <a:off x="4572000" y="1915160"/>
            <a:ext cx="3047696" cy="3657601"/>
          </a:xfrm>
          <a:prstGeom prst="rect">
            <a:avLst/>
          </a:prstGeom>
          <a:ln w="12700">
            <a:miter lim="400000"/>
          </a:ln>
        </p:spPr>
      </p:pic>
      <p:sp>
        <p:nvSpPr>
          <p:cNvPr id="218" name="Text 14"/>
          <p:cNvSpPr txBox="1"/>
          <p:nvPr/>
        </p:nvSpPr>
        <p:spPr>
          <a:xfrm>
            <a:off x="5367528" y="5712409"/>
            <a:ext cx="1586485"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300">
                <a:solidFill>
                  <a:srgbClr val="111827"/>
                </a:solidFill>
                <a:latin typeface="Noto Serif KR"/>
                <a:ea typeface="Noto Serif KR"/>
                <a:cs typeface="Noto Serif KR"/>
                <a:sym typeface="Noto Serif KR"/>
              </a:defRPr>
            </a:lvl1pPr>
          </a:lstStyle>
          <a:p>
            <a:r>
              <a:t>Scab Portrait #02</a:t>
            </a:r>
          </a:p>
        </p:txBody>
      </p:sp>
      <p:sp>
        <p:nvSpPr>
          <p:cNvPr id="219" name="Text 15"/>
          <p:cNvSpPr txBox="1"/>
          <p:nvPr/>
        </p:nvSpPr>
        <p:spPr>
          <a:xfrm>
            <a:off x="5484571" y="5986932"/>
            <a:ext cx="1314908"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900">
                <a:solidFill>
                  <a:srgbClr val="6B7280"/>
                </a:solidFill>
                <a:latin typeface="Noto Sans KR"/>
                <a:ea typeface="Noto Sans KR"/>
                <a:cs typeface="Noto Sans KR"/>
                <a:sym typeface="Noto Sans KR"/>
              </a:defRPr>
            </a:lvl1pPr>
          </a:lstStyle>
          <a:p>
            <a:r>
              <a:t>MIXED MEDIA, 2024</a:t>
            </a:r>
          </a:p>
        </p:txBody>
      </p:sp>
      <p:sp>
        <p:nvSpPr>
          <p:cNvPr id="220" name="Shape 16"/>
          <p:cNvSpPr/>
          <p:nvPr/>
        </p:nvSpPr>
        <p:spPr>
          <a:xfrm>
            <a:off x="5943600" y="6250380"/>
            <a:ext cx="304496" cy="12701"/>
          </a:xfrm>
          <a:prstGeom prst="rect">
            <a:avLst/>
          </a:prstGeom>
          <a:solidFill>
            <a:srgbClr val="D1D5DB"/>
          </a:solidFill>
          <a:ln w="12700">
            <a:miter lim="400000"/>
          </a:ln>
        </p:spPr>
        <p:txBody>
          <a:bodyPr lIns="45719" rIns="45719"/>
          <a:lstStyle/>
          <a:p>
            <a:endParaRPr/>
          </a:p>
        </p:txBody>
      </p:sp>
      <p:sp>
        <p:nvSpPr>
          <p:cNvPr id="221" name="Shape 17"/>
          <p:cNvSpPr/>
          <p:nvPr/>
        </p:nvSpPr>
        <p:spPr>
          <a:xfrm>
            <a:off x="8229600" y="2296057"/>
            <a:ext cx="3353106" cy="3905403"/>
          </a:xfrm>
          <a:prstGeom prst="roundRect">
            <a:avLst>
              <a:gd name="adj" fmla="val 155"/>
            </a:avLst>
          </a:prstGeom>
          <a:solidFill>
            <a:srgbClr val="F9FAFB"/>
          </a:solidFill>
          <a:ln w="12700">
            <a:miter lim="400000"/>
          </a:ln>
        </p:spPr>
        <p:txBody>
          <a:bodyPr lIns="45719" rIns="45719"/>
          <a:lstStyle/>
          <a:p>
            <a:endParaRPr/>
          </a:p>
        </p:txBody>
      </p:sp>
      <p:pic>
        <p:nvPicPr>
          <p:cNvPr id="222" name="Image 2" descr="Image 2"/>
          <p:cNvPicPr>
            <a:picLocks noChangeAspect="1"/>
          </p:cNvPicPr>
          <p:nvPr/>
        </p:nvPicPr>
        <p:blipFill>
          <a:blip r:embed="rId4"/>
          <a:srcRect l="18" r="18"/>
          <a:stretch>
            <a:fillRect/>
          </a:stretch>
        </p:blipFill>
        <p:spPr>
          <a:xfrm>
            <a:off x="8382304" y="1940762"/>
            <a:ext cx="3047696" cy="3600908"/>
          </a:xfrm>
          <a:prstGeom prst="rect">
            <a:avLst/>
          </a:prstGeom>
          <a:ln w="12700">
            <a:miter lim="400000"/>
          </a:ln>
        </p:spPr>
      </p:pic>
      <p:sp>
        <p:nvSpPr>
          <p:cNvPr id="223" name="Text 18"/>
          <p:cNvSpPr txBox="1"/>
          <p:nvPr/>
        </p:nvSpPr>
        <p:spPr>
          <a:xfrm>
            <a:off x="9177832" y="5686805"/>
            <a:ext cx="1586485"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300">
                <a:solidFill>
                  <a:srgbClr val="111827"/>
                </a:solidFill>
                <a:latin typeface="Noto Serif KR"/>
                <a:ea typeface="Noto Serif KR"/>
                <a:cs typeface="Noto Serif KR"/>
                <a:sym typeface="Noto Serif KR"/>
              </a:defRPr>
            </a:lvl1pPr>
          </a:lstStyle>
          <a:p>
            <a:r>
              <a:t>Scab Portrait #03</a:t>
            </a:r>
          </a:p>
        </p:txBody>
      </p:sp>
      <p:sp>
        <p:nvSpPr>
          <p:cNvPr id="224" name="Text 19"/>
          <p:cNvSpPr txBox="1"/>
          <p:nvPr/>
        </p:nvSpPr>
        <p:spPr>
          <a:xfrm>
            <a:off x="9293962" y="5961329"/>
            <a:ext cx="1314908"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900">
                <a:solidFill>
                  <a:srgbClr val="6B7280"/>
                </a:solidFill>
                <a:latin typeface="Noto Sans KR"/>
                <a:ea typeface="Noto Sans KR"/>
                <a:cs typeface="Noto Sans KR"/>
                <a:sym typeface="Noto Sans KR"/>
              </a:defRPr>
            </a:lvl1pPr>
          </a:lstStyle>
          <a:p>
            <a:r>
              <a:t>MIXED MEDIA, 2024</a:t>
            </a:r>
          </a:p>
        </p:txBody>
      </p:sp>
      <p:sp>
        <p:nvSpPr>
          <p:cNvPr id="225" name="Shape 20"/>
          <p:cNvSpPr/>
          <p:nvPr/>
        </p:nvSpPr>
        <p:spPr>
          <a:xfrm>
            <a:off x="9753904" y="6224778"/>
            <a:ext cx="304496" cy="12701"/>
          </a:xfrm>
          <a:prstGeom prst="rect">
            <a:avLst/>
          </a:prstGeom>
          <a:solidFill>
            <a:srgbClr val="D1D5DB"/>
          </a:solidFill>
          <a:ln w="12700">
            <a:miter lim="400000"/>
          </a:ln>
        </p:spPr>
        <p:txBody>
          <a:bodyPr lIns="45719" rIns="45719"/>
          <a:lstStyle/>
          <a:p>
            <a:endParaRPr/>
          </a:p>
        </p:txBody>
      </p:sp>
      <p:sp>
        <p:nvSpPr>
          <p:cNvPr id="226" name="Shape 21"/>
          <p:cNvSpPr/>
          <p:nvPr/>
        </p:nvSpPr>
        <p:spPr>
          <a:xfrm>
            <a:off x="609905" y="6264096"/>
            <a:ext cx="10972801" cy="12701"/>
          </a:xfrm>
          <a:prstGeom prst="rect">
            <a:avLst/>
          </a:prstGeom>
          <a:solidFill>
            <a:srgbClr val="F3F4F6"/>
          </a:solidFill>
          <a:ln w="12700">
            <a:miter lim="400000"/>
          </a:ln>
        </p:spPr>
        <p:txBody>
          <a:bodyPr lIns="45719" rIns="45719"/>
          <a:lstStyle/>
          <a:p>
            <a:endParaRPr/>
          </a:p>
        </p:txBody>
      </p:sp>
      <p:sp>
        <p:nvSpPr>
          <p:cNvPr id="227" name="Text 22"/>
          <p:cNvSpPr txBox="1"/>
          <p:nvPr/>
        </p:nvSpPr>
        <p:spPr>
          <a:xfrm>
            <a:off x="609905" y="6467906"/>
            <a:ext cx="1838858"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SON MUNIL SOLO EXHIBITION</a:t>
            </a:r>
          </a:p>
        </p:txBody>
      </p:sp>
      <p:sp>
        <p:nvSpPr>
          <p:cNvPr id="228" name="Text 23"/>
          <p:cNvSpPr txBox="1"/>
          <p:nvPr/>
        </p:nvSpPr>
        <p:spPr>
          <a:xfrm>
            <a:off x="9854489" y="6467906"/>
            <a:ext cx="1353313"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GWANHOON GALLERY</a:t>
            </a:r>
          </a:p>
        </p:txBody>
      </p:sp>
      <p:sp>
        <p:nvSpPr>
          <p:cNvPr id="229" name="Shape 24"/>
          <p:cNvSpPr/>
          <p:nvPr/>
        </p:nvSpPr>
        <p:spPr>
          <a:xfrm>
            <a:off x="11191341" y="6561225"/>
            <a:ext cx="38406" cy="38406"/>
          </a:xfrm>
          <a:prstGeom prst="roundRect">
            <a:avLst>
              <a:gd name="adj" fmla="val 50000"/>
            </a:avLst>
          </a:prstGeom>
          <a:solidFill>
            <a:srgbClr val="D1D5DB"/>
          </a:solidFill>
          <a:ln w="12700">
            <a:miter lim="400000"/>
          </a:ln>
        </p:spPr>
        <p:txBody>
          <a:bodyPr lIns="45719" rIns="45719"/>
          <a:lstStyle/>
          <a:p>
            <a:endParaRPr/>
          </a:p>
        </p:txBody>
      </p:sp>
      <p:sp>
        <p:nvSpPr>
          <p:cNvPr id="230" name="Text 25"/>
          <p:cNvSpPr txBox="1"/>
          <p:nvPr/>
        </p:nvSpPr>
        <p:spPr>
          <a:xfrm>
            <a:off x="11305641" y="6467906"/>
            <a:ext cx="372162"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2025</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Shape 0"/>
          <p:cNvSpPr/>
          <p:nvPr/>
        </p:nvSpPr>
        <p:spPr>
          <a:xfrm>
            <a:off x="-1" y="0"/>
            <a:ext cx="12191697" cy="6858000"/>
          </a:xfrm>
          <a:prstGeom prst="rect">
            <a:avLst/>
          </a:prstGeom>
          <a:solidFill>
            <a:srgbClr val="FFFFFF"/>
          </a:solidFill>
          <a:ln w="12700">
            <a:miter lim="400000"/>
          </a:ln>
        </p:spPr>
        <p:txBody>
          <a:bodyPr lIns="45719" rIns="45719"/>
          <a:lstStyle/>
          <a:p>
            <a:endParaRPr/>
          </a:p>
        </p:txBody>
      </p:sp>
      <p:sp>
        <p:nvSpPr>
          <p:cNvPr id="233" name="Shape 1"/>
          <p:cNvSpPr/>
          <p:nvPr/>
        </p:nvSpPr>
        <p:spPr>
          <a:xfrm>
            <a:off x="-1" y="0"/>
            <a:ext cx="12191697" cy="6858000"/>
          </a:xfrm>
          <a:prstGeom prst="rect">
            <a:avLst/>
          </a:prstGeom>
          <a:solidFill>
            <a:srgbClr val="FFFFFF"/>
          </a:solidFill>
          <a:ln w="12700">
            <a:miter lim="400000"/>
          </a:ln>
        </p:spPr>
        <p:txBody>
          <a:bodyPr lIns="45719" rIns="45719"/>
          <a:lstStyle/>
          <a:p>
            <a:endParaRPr/>
          </a:p>
        </p:txBody>
      </p:sp>
      <p:sp>
        <p:nvSpPr>
          <p:cNvPr id="234" name="Shape 2"/>
          <p:cNvSpPr/>
          <p:nvPr/>
        </p:nvSpPr>
        <p:spPr>
          <a:xfrm>
            <a:off x="533095" y="1313129"/>
            <a:ext cx="11125505" cy="12701"/>
          </a:xfrm>
          <a:prstGeom prst="rect">
            <a:avLst/>
          </a:prstGeom>
          <a:solidFill>
            <a:srgbClr val="F3F4F6"/>
          </a:solidFill>
          <a:ln w="12700">
            <a:miter lim="400000"/>
          </a:ln>
        </p:spPr>
        <p:txBody>
          <a:bodyPr lIns="45719" rIns="45719"/>
          <a:lstStyle/>
          <a:p>
            <a:endParaRPr/>
          </a:p>
        </p:txBody>
      </p:sp>
      <p:sp>
        <p:nvSpPr>
          <p:cNvPr id="235" name="Shape 3"/>
          <p:cNvSpPr/>
          <p:nvPr/>
        </p:nvSpPr>
        <p:spPr>
          <a:xfrm>
            <a:off x="533094" y="602640"/>
            <a:ext cx="228601" cy="12701"/>
          </a:xfrm>
          <a:prstGeom prst="rect">
            <a:avLst/>
          </a:prstGeom>
          <a:solidFill>
            <a:srgbClr val="F87171"/>
          </a:solidFill>
          <a:ln w="12700">
            <a:miter lim="400000"/>
          </a:ln>
        </p:spPr>
        <p:txBody>
          <a:bodyPr lIns="45719" rIns="45719"/>
          <a:lstStyle/>
          <a:p>
            <a:endParaRPr/>
          </a:p>
        </p:txBody>
      </p:sp>
      <p:sp>
        <p:nvSpPr>
          <p:cNvPr id="236" name="Text 4"/>
          <p:cNvSpPr txBox="1"/>
          <p:nvPr/>
        </p:nvSpPr>
        <p:spPr>
          <a:xfrm>
            <a:off x="875994" y="535482"/>
            <a:ext cx="1114655"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b="1">
                <a:solidFill>
                  <a:srgbClr val="6B7280"/>
                </a:solidFill>
                <a:latin typeface="Noto Sans KR"/>
                <a:ea typeface="Noto Sans KR"/>
                <a:cs typeface="Noto Sans KR"/>
                <a:sym typeface="Noto Sans KR"/>
              </a:defRPr>
            </a:lvl1pPr>
          </a:lstStyle>
          <a:p>
            <a:r>
              <a:t>SELECTED WORKS</a:t>
            </a:r>
          </a:p>
        </p:txBody>
      </p:sp>
      <p:sp>
        <p:nvSpPr>
          <p:cNvPr id="237" name="Text 5"/>
          <p:cNvSpPr txBox="1"/>
          <p:nvPr/>
        </p:nvSpPr>
        <p:spPr>
          <a:xfrm>
            <a:off x="533094" y="768960"/>
            <a:ext cx="3948381"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200" b="1">
                <a:solidFill>
                  <a:srgbClr val="111827"/>
                </a:solidFill>
                <a:latin typeface="Noto Serif KR"/>
                <a:ea typeface="Noto Serif KR"/>
                <a:cs typeface="Noto Serif KR"/>
                <a:sym typeface="Noto Serif KR"/>
              </a:defRPr>
            </a:lvl1pPr>
          </a:lstStyle>
          <a:p>
            <a:r>
              <a:t>Gallery I: Scab Variations</a:t>
            </a:r>
          </a:p>
        </p:txBody>
      </p:sp>
      <p:sp>
        <p:nvSpPr>
          <p:cNvPr id="238" name="Text 6"/>
          <p:cNvSpPr txBox="1"/>
          <p:nvPr/>
        </p:nvSpPr>
        <p:spPr>
          <a:xfrm>
            <a:off x="10146182" y="943938"/>
            <a:ext cx="1614831" cy="161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9CA3AF"/>
                </a:solidFill>
                <a:latin typeface="Noto Sans KR"/>
                <a:ea typeface="Noto Sans KR"/>
                <a:cs typeface="Noto Sans KR"/>
                <a:sym typeface="Noto Sans KR"/>
              </a:defRPr>
            </a:lvl1pPr>
          </a:lstStyle>
          <a:p>
            <a:r>
              <a:t>완전한 딱지 시리즈 변주</a:t>
            </a:r>
          </a:p>
        </p:txBody>
      </p:sp>
      <p:sp>
        <p:nvSpPr>
          <p:cNvPr id="239" name="Shape 7"/>
          <p:cNvSpPr/>
          <p:nvPr/>
        </p:nvSpPr>
        <p:spPr>
          <a:xfrm>
            <a:off x="685800" y="1699870"/>
            <a:ext cx="3305556" cy="3877057"/>
          </a:xfrm>
          <a:prstGeom prst="roundRect">
            <a:avLst>
              <a:gd name="adj" fmla="val 159"/>
            </a:avLst>
          </a:prstGeom>
          <a:solidFill>
            <a:srgbClr val="F9FAFB"/>
          </a:solidFill>
          <a:ln w="12700">
            <a:miter lim="400000"/>
          </a:ln>
        </p:spPr>
        <p:txBody>
          <a:bodyPr lIns="45719" rIns="45719"/>
          <a:lstStyle/>
          <a:p>
            <a:endParaRPr/>
          </a:p>
        </p:txBody>
      </p:sp>
      <p:pic>
        <p:nvPicPr>
          <p:cNvPr id="240" name="Image 0" descr="Image 0"/>
          <p:cNvPicPr>
            <a:picLocks noChangeAspect="1"/>
          </p:cNvPicPr>
          <p:nvPr/>
        </p:nvPicPr>
        <p:blipFill>
          <a:blip r:embed="rId2"/>
          <a:srcRect t="51" b="50"/>
          <a:stretch>
            <a:fillRect/>
          </a:stretch>
        </p:blipFill>
        <p:spPr>
          <a:xfrm>
            <a:off x="914400" y="1928469"/>
            <a:ext cx="2848356" cy="3419858"/>
          </a:xfrm>
          <a:prstGeom prst="rect">
            <a:avLst/>
          </a:prstGeom>
          <a:ln w="12700">
            <a:miter lim="400000"/>
          </a:ln>
        </p:spPr>
      </p:pic>
      <p:sp>
        <p:nvSpPr>
          <p:cNvPr id="241" name="Text 8"/>
          <p:cNvSpPr txBox="1"/>
          <p:nvPr/>
        </p:nvSpPr>
        <p:spPr>
          <a:xfrm>
            <a:off x="3471976" y="5025339"/>
            <a:ext cx="629108" cy="406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700" b="1">
                <a:solidFill>
                  <a:srgbClr val="E5E7EB">
                    <a:alpha val="50000"/>
                  </a:srgbClr>
                </a:solidFill>
                <a:latin typeface="Noto Serif KR"/>
                <a:ea typeface="Noto Serif KR"/>
                <a:cs typeface="Noto Serif KR"/>
                <a:sym typeface="Noto Serif KR"/>
              </a:defRPr>
            </a:lvl1pPr>
          </a:lstStyle>
          <a:p>
            <a:r>
              <a:t>01</a:t>
            </a:r>
          </a:p>
        </p:txBody>
      </p:sp>
      <p:sp>
        <p:nvSpPr>
          <p:cNvPr id="242" name="Shape 9"/>
          <p:cNvSpPr/>
          <p:nvPr/>
        </p:nvSpPr>
        <p:spPr>
          <a:xfrm>
            <a:off x="685800" y="5728715"/>
            <a:ext cx="19202" cy="362103"/>
          </a:xfrm>
          <a:prstGeom prst="rect">
            <a:avLst/>
          </a:prstGeom>
          <a:solidFill>
            <a:srgbClr val="F3F4F6"/>
          </a:solidFill>
          <a:ln w="12700">
            <a:miter lim="400000"/>
          </a:ln>
        </p:spPr>
        <p:txBody>
          <a:bodyPr lIns="45719" rIns="45719"/>
          <a:lstStyle/>
          <a:p>
            <a:endParaRPr/>
          </a:p>
        </p:txBody>
      </p:sp>
      <p:sp>
        <p:nvSpPr>
          <p:cNvPr id="243" name="Text 10"/>
          <p:cNvSpPr txBox="1"/>
          <p:nvPr/>
        </p:nvSpPr>
        <p:spPr>
          <a:xfrm>
            <a:off x="1555598" y="5712611"/>
            <a:ext cx="2043685"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300">
                <a:solidFill>
                  <a:srgbClr val="111827"/>
                </a:solidFill>
                <a:latin typeface="Noto Serif KR"/>
                <a:ea typeface="Noto Serif KR"/>
                <a:cs typeface="Noto Serif KR"/>
                <a:sym typeface="Noto Serif KR"/>
              </a:defRPr>
            </a:lvl1pPr>
          </a:lstStyle>
          <a:p>
            <a:r>
              <a:t>Scab Portrait (Orange)</a:t>
            </a:r>
          </a:p>
        </p:txBody>
      </p:sp>
      <p:sp>
        <p:nvSpPr>
          <p:cNvPr id="244" name="Text 11"/>
          <p:cNvSpPr txBox="1"/>
          <p:nvPr/>
        </p:nvSpPr>
        <p:spPr>
          <a:xfrm>
            <a:off x="1555597" y="5940501"/>
            <a:ext cx="1610259"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6B7280"/>
                </a:solidFill>
                <a:latin typeface="Noto Sans KR"/>
                <a:ea typeface="Noto Sans KR"/>
                <a:cs typeface="Noto Sans KR"/>
                <a:sym typeface="Noto Sans KR"/>
              </a:defRPr>
            </a:lvl1pPr>
          </a:lstStyle>
          <a:p>
            <a:r>
              <a:t>Mixed Media on Canvas, 2024</a:t>
            </a:r>
          </a:p>
        </p:txBody>
      </p:sp>
      <p:sp>
        <p:nvSpPr>
          <p:cNvPr id="245" name="Shape 12"/>
          <p:cNvSpPr/>
          <p:nvPr/>
        </p:nvSpPr>
        <p:spPr>
          <a:xfrm>
            <a:off x="4444898" y="1699870"/>
            <a:ext cx="3305557" cy="3877057"/>
          </a:xfrm>
          <a:prstGeom prst="roundRect">
            <a:avLst>
              <a:gd name="adj" fmla="val 159"/>
            </a:avLst>
          </a:prstGeom>
          <a:solidFill>
            <a:srgbClr val="F9FAFB"/>
          </a:solidFill>
          <a:ln w="12700">
            <a:miter lim="400000"/>
          </a:ln>
        </p:spPr>
        <p:txBody>
          <a:bodyPr lIns="45719" rIns="45719"/>
          <a:lstStyle/>
          <a:p>
            <a:endParaRPr/>
          </a:p>
        </p:txBody>
      </p:sp>
      <p:pic>
        <p:nvPicPr>
          <p:cNvPr id="246" name="Image 1" descr="Image 1"/>
          <p:cNvPicPr>
            <a:picLocks noChangeAspect="1"/>
          </p:cNvPicPr>
          <p:nvPr/>
        </p:nvPicPr>
        <p:blipFill>
          <a:blip r:embed="rId3"/>
          <a:srcRect t="14" b="13"/>
          <a:stretch>
            <a:fillRect/>
          </a:stretch>
        </p:blipFill>
        <p:spPr>
          <a:xfrm>
            <a:off x="4673498" y="1944928"/>
            <a:ext cx="2848357" cy="3390596"/>
          </a:xfrm>
          <a:prstGeom prst="rect">
            <a:avLst/>
          </a:prstGeom>
          <a:ln w="12700">
            <a:miter lim="400000"/>
          </a:ln>
        </p:spPr>
      </p:pic>
      <p:sp>
        <p:nvSpPr>
          <p:cNvPr id="247" name="Text 13"/>
          <p:cNvSpPr txBox="1"/>
          <p:nvPr/>
        </p:nvSpPr>
        <p:spPr>
          <a:xfrm>
            <a:off x="7187183" y="5025339"/>
            <a:ext cx="667513" cy="406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700" b="1">
                <a:solidFill>
                  <a:srgbClr val="E5E7EB">
                    <a:alpha val="50000"/>
                  </a:srgbClr>
                </a:solidFill>
                <a:latin typeface="Noto Serif KR"/>
                <a:ea typeface="Noto Serif KR"/>
                <a:cs typeface="Noto Serif KR"/>
                <a:sym typeface="Noto Serif KR"/>
              </a:defRPr>
            </a:lvl1pPr>
          </a:lstStyle>
          <a:p>
            <a:r>
              <a:t>02</a:t>
            </a:r>
          </a:p>
        </p:txBody>
      </p:sp>
      <p:sp>
        <p:nvSpPr>
          <p:cNvPr id="248" name="Shape 14"/>
          <p:cNvSpPr/>
          <p:nvPr/>
        </p:nvSpPr>
        <p:spPr>
          <a:xfrm>
            <a:off x="4444898" y="5728715"/>
            <a:ext cx="19203" cy="362103"/>
          </a:xfrm>
          <a:prstGeom prst="rect">
            <a:avLst/>
          </a:prstGeom>
          <a:solidFill>
            <a:srgbClr val="F3F4F6"/>
          </a:solidFill>
          <a:ln w="12700">
            <a:miter lim="400000"/>
          </a:ln>
        </p:spPr>
        <p:txBody>
          <a:bodyPr lIns="45719" rIns="45719"/>
          <a:lstStyle/>
          <a:p>
            <a:endParaRPr/>
          </a:p>
        </p:txBody>
      </p:sp>
      <p:sp>
        <p:nvSpPr>
          <p:cNvPr id="249" name="Text 15"/>
          <p:cNvSpPr txBox="1"/>
          <p:nvPr/>
        </p:nvSpPr>
        <p:spPr>
          <a:xfrm>
            <a:off x="5314696" y="5712611"/>
            <a:ext cx="1815085"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300">
                <a:solidFill>
                  <a:srgbClr val="111827"/>
                </a:solidFill>
                <a:latin typeface="Noto Serif KR"/>
                <a:ea typeface="Noto Serif KR"/>
                <a:cs typeface="Noto Serif KR"/>
                <a:sym typeface="Noto Serif KR"/>
              </a:defRPr>
            </a:lvl1pPr>
          </a:lstStyle>
          <a:p>
            <a:r>
              <a:t>Scab Portrait (Pink)</a:t>
            </a:r>
          </a:p>
        </p:txBody>
      </p:sp>
      <p:sp>
        <p:nvSpPr>
          <p:cNvPr id="250" name="Text 16"/>
          <p:cNvSpPr txBox="1"/>
          <p:nvPr/>
        </p:nvSpPr>
        <p:spPr>
          <a:xfrm>
            <a:off x="5314696" y="5940501"/>
            <a:ext cx="1610259"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6B7280"/>
                </a:solidFill>
                <a:latin typeface="Noto Sans KR"/>
                <a:ea typeface="Noto Sans KR"/>
                <a:cs typeface="Noto Sans KR"/>
                <a:sym typeface="Noto Sans KR"/>
              </a:defRPr>
            </a:lvl1pPr>
          </a:lstStyle>
          <a:p>
            <a:r>
              <a:t>Mixed Media on Canvas, 2024</a:t>
            </a:r>
          </a:p>
        </p:txBody>
      </p:sp>
      <p:sp>
        <p:nvSpPr>
          <p:cNvPr id="251" name="Shape 17"/>
          <p:cNvSpPr/>
          <p:nvPr/>
        </p:nvSpPr>
        <p:spPr>
          <a:xfrm>
            <a:off x="8203996" y="1699870"/>
            <a:ext cx="3305557" cy="3877057"/>
          </a:xfrm>
          <a:prstGeom prst="roundRect">
            <a:avLst>
              <a:gd name="adj" fmla="val 159"/>
            </a:avLst>
          </a:prstGeom>
          <a:solidFill>
            <a:srgbClr val="F9FAFB"/>
          </a:solidFill>
          <a:ln w="12700">
            <a:miter lim="400000"/>
          </a:ln>
        </p:spPr>
        <p:txBody>
          <a:bodyPr lIns="45719" rIns="45719"/>
          <a:lstStyle/>
          <a:p>
            <a:endParaRPr/>
          </a:p>
        </p:txBody>
      </p:sp>
      <p:pic>
        <p:nvPicPr>
          <p:cNvPr id="252" name="Image 2" descr="Image 2"/>
          <p:cNvPicPr>
            <a:picLocks noChangeAspect="1"/>
          </p:cNvPicPr>
          <p:nvPr/>
        </p:nvPicPr>
        <p:blipFill>
          <a:blip r:embed="rId4"/>
          <a:srcRect l="76" r="76"/>
          <a:stretch>
            <a:fillRect/>
          </a:stretch>
        </p:blipFill>
        <p:spPr>
          <a:xfrm>
            <a:off x="8432596" y="1943100"/>
            <a:ext cx="2848357" cy="3400655"/>
          </a:xfrm>
          <a:prstGeom prst="rect">
            <a:avLst/>
          </a:prstGeom>
          <a:ln w="12700">
            <a:miter lim="400000"/>
          </a:ln>
        </p:spPr>
      </p:pic>
      <p:sp>
        <p:nvSpPr>
          <p:cNvPr id="253" name="Text 18"/>
          <p:cNvSpPr txBox="1"/>
          <p:nvPr/>
        </p:nvSpPr>
        <p:spPr>
          <a:xfrm>
            <a:off x="10947196" y="5025339"/>
            <a:ext cx="667513" cy="406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700" b="1">
                <a:solidFill>
                  <a:srgbClr val="E5E7EB">
                    <a:alpha val="50000"/>
                  </a:srgbClr>
                </a:solidFill>
                <a:latin typeface="Noto Serif KR"/>
                <a:ea typeface="Noto Serif KR"/>
                <a:cs typeface="Noto Serif KR"/>
                <a:sym typeface="Noto Serif KR"/>
              </a:defRPr>
            </a:lvl1pPr>
          </a:lstStyle>
          <a:p>
            <a:r>
              <a:t>03</a:t>
            </a:r>
          </a:p>
        </p:txBody>
      </p:sp>
      <p:sp>
        <p:nvSpPr>
          <p:cNvPr id="254" name="Shape 19"/>
          <p:cNvSpPr/>
          <p:nvPr/>
        </p:nvSpPr>
        <p:spPr>
          <a:xfrm>
            <a:off x="8203996" y="5728715"/>
            <a:ext cx="19203" cy="362103"/>
          </a:xfrm>
          <a:prstGeom prst="rect">
            <a:avLst/>
          </a:prstGeom>
          <a:solidFill>
            <a:srgbClr val="F3F4F6"/>
          </a:solidFill>
          <a:ln w="12700">
            <a:miter lim="400000"/>
          </a:ln>
        </p:spPr>
        <p:txBody>
          <a:bodyPr lIns="45719" rIns="45719"/>
          <a:lstStyle/>
          <a:p>
            <a:endParaRPr/>
          </a:p>
        </p:txBody>
      </p:sp>
      <p:sp>
        <p:nvSpPr>
          <p:cNvPr id="255" name="Text 20"/>
          <p:cNvSpPr txBox="1"/>
          <p:nvPr/>
        </p:nvSpPr>
        <p:spPr>
          <a:xfrm>
            <a:off x="9073794" y="5712611"/>
            <a:ext cx="1757478"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300">
                <a:solidFill>
                  <a:srgbClr val="111827"/>
                </a:solidFill>
                <a:latin typeface="Noto Serif KR"/>
                <a:ea typeface="Noto Serif KR"/>
                <a:cs typeface="Noto Serif KR"/>
                <a:sym typeface="Noto Serif KR"/>
              </a:defRPr>
            </a:lvl1pPr>
          </a:lstStyle>
          <a:p>
            <a:r>
              <a:t>Scab Portrait (Red)</a:t>
            </a:r>
          </a:p>
        </p:txBody>
      </p:sp>
      <p:sp>
        <p:nvSpPr>
          <p:cNvPr id="256" name="Text 21"/>
          <p:cNvSpPr txBox="1"/>
          <p:nvPr/>
        </p:nvSpPr>
        <p:spPr>
          <a:xfrm>
            <a:off x="9073794" y="5940501"/>
            <a:ext cx="1610259"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6B7280"/>
                </a:solidFill>
                <a:latin typeface="Noto Sans KR"/>
                <a:ea typeface="Noto Sans KR"/>
                <a:cs typeface="Noto Sans KR"/>
                <a:sym typeface="Noto Sans KR"/>
              </a:defRPr>
            </a:lvl1pPr>
          </a:lstStyle>
          <a:p>
            <a:r>
              <a:t>Mixed Media on Canvas, 2024</a:t>
            </a:r>
          </a:p>
        </p:txBody>
      </p:sp>
      <p:sp>
        <p:nvSpPr>
          <p:cNvPr id="257" name="Shape 22"/>
          <p:cNvSpPr/>
          <p:nvPr/>
        </p:nvSpPr>
        <p:spPr>
          <a:xfrm>
            <a:off x="533095" y="6393535"/>
            <a:ext cx="11125505" cy="12701"/>
          </a:xfrm>
          <a:prstGeom prst="rect">
            <a:avLst/>
          </a:prstGeom>
          <a:solidFill>
            <a:srgbClr val="F3F4F6"/>
          </a:solidFill>
          <a:ln w="12700">
            <a:miter lim="400000"/>
          </a:ln>
        </p:spPr>
        <p:txBody>
          <a:bodyPr lIns="45719" rIns="45719"/>
          <a:lstStyle/>
          <a:p>
            <a:endParaRPr/>
          </a:p>
        </p:txBody>
      </p:sp>
      <p:sp>
        <p:nvSpPr>
          <p:cNvPr id="258" name="Text 23"/>
          <p:cNvSpPr txBox="1"/>
          <p:nvPr/>
        </p:nvSpPr>
        <p:spPr>
          <a:xfrm>
            <a:off x="533094" y="6559550"/>
            <a:ext cx="762611"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SON MUNIL</a:t>
            </a:r>
          </a:p>
        </p:txBody>
      </p:sp>
      <p:sp>
        <p:nvSpPr>
          <p:cNvPr id="259" name="Text 24"/>
          <p:cNvSpPr txBox="1"/>
          <p:nvPr/>
        </p:nvSpPr>
        <p:spPr>
          <a:xfrm>
            <a:off x="1510588" y="6559550"/>
            <a:ext cx="1133857"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SOLO EXHIBITION</a:t>
            </a:r>
          </a:p>
        </p:txBody>
      </p:sp>
      <p:pic>
        <p:nvPicPr>
          <p:cNvPr id="260" name="Image 3" descr="Image 3"/>
          <p:cNvPicPr>
            <a:picLocks noChangeAspect="1"/>
          </p:cNvPicPr>
          <p:nvPr/>
        </p:nvPicPr>
        <p:blipFill>
          <a:blip r:embed="rId5"/>
          <a:stretch>
            <a:fillRect/>
          </a:stretch>
        </p:blipFill>
        <p:spPr>
          <a:xfrm>
            <a:off x="9772021" y="6592823"/>
            <a:ext cx="100014" cy="114301"/>
          </a:xfrm>
          <a:prstGeom prst="rect">
            <a:avLst/>
          </a:prstGeom>
          <a:ln w="12700">
            <a:miter lim="400000"/>
          </a:ln>
        </p:spPr>
      </p:pic>
      <p:sp>
        <p:nvSpPr>
          <p:cNvPr id="261" name="Text 25"/>
          <p:cNvSpPr txBox="1"/>
          <p:nvPr/>
        </p:nvSpPr>
        <p:spPr>
          <a:xfrm>
            <a:off x="9950501" y="6489700"/>
            <a:ext cx="1800455"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D1D5DB"/>
                </a:solidFill>
                <a:latin typeface="Noto Sans KR"/>
                <a:ea typeface="Noto Sans KR"/>
                <a:cs typeface="Noto Sans KR"/>
                <a:sym typeface="Noto Sans KR"/>
              </a:defRPr>
            </a:lvl1pPr>
          </a:lstStyle>
          <a:p>
            <a:r>
              <a:t>WHERE LIGHT SEEPS THROUGH</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Text 0"/>
          <p:cNvSpPr/>
          <p:nvPr/>
        </p:nvSpPr>
        <p:spPr>
          <a:xfrm>
            <a:off x="-1" y="-1"/>
            <a:ext cx="50801" cy="6858001"/>
          </a:xfrm>
          <a:prstGeom prst="rect">
            <a:avLst/>
          </a:prstGeom>
          <a:solidFill>
            <a:srgbClr val="C9A962"/>
          </a:solidFill>
          <a:ln w="12700">
            <a:miter lim="400000"/>
          </a:ln>
        </p:spPr>
        <p:txBody>
          <a:bodyPr lIns="60959" tIns="60959" rIns="60959" bIns="60959" anchor="ctr"/>
          <a:lstStyle/>
          <a:p>
            <a:pPr defTabSz="1219200">
              <a:defRPr sz="2400"/>
            </a:pPr>
            <a:endParaRPr/>
          </a:p>
        </p:txBody>
      </p:sp>
      <p:sp>
        <p:nvSpPr>
          <p:cNvPr id="264" name="Text 1"/>
          <p:cNvSpPr txBox="1"/>
          <p:nvPr/>
        </p:nvSpPr>
        <p:spPr>
          <a:xfrm>
            <a:off x="761999" y="507999"/>
            <a:ext cx="10881360" cy="1435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1200"/>
              </a:lnSpc>
              <a:spcBef>
                <a:spcPts val="2000"/>
              </a:spcBef>
              <a:defRPr sz="800">
                <a:solidFill>
                  <a:srgbClr val="C9A962"/>
                </a:solidFill>
                <a:latin typeface="Helvetica Neue"/>
                <a:ea typeface="Helvetica Neue"/>
                <a:cs typeface="Helvetica Neue"/>
                <a:sym typeface="Helvetica Neue"/>
              </a:defRPr>
            </a:lvl1pPr>
          </a:lstStyle>
          <a:p>
            <a:r>
              <a:t>WORKS — PERFECT SCABS</a:t>
            </a:r>
          </a:p>
        </p:txBody>
      </p:sp>
      <p:sp>
        <p:nvSpPr>
          <p:cNvPr id="265" name="Text 2"/>
          <p:cNvSpPr txBox="1"/>
          <p:nvPr/>
        </p:nvSpPr>
        <p:spPr>
          <a:xfrm>
            <a:off x="761999" y="1125139"/>
            <a:ext cx="5453636" cy="3975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2800"/>
              </a:lnSpc>
              <a:defRPr sz="2800">
                <a:solidFill>
                  <a:srgbClr val="212121"/>
                </a:solidFill>
                <a:latin typeface="Georgia"/>
                <a:ea typeface="Georgia"/>
                <a:cs typeface="Georgia"/>
                <a:sym typeface="Georgia"/>
              </a:defRPr>
            </a:lvl1pPr>
          </a:lstStyle>
          <a:p>
            <a:r>
              <a:t>완전한 딱지</a:t>
            </a:r>
          </a:p>
        </p:txBody>
      </p:sp>
      <p:sp>
        <p:nvSpPr>
          <p:cNvPr id="266" name="Text 3"/>
          <p:cNvSpPr txBox="1"/>
          <p:nvPr/>
        </p:nvSpPr>
        <p:spPr>
          <a:xfrm>
            <a:off x="761999" y="1582339"/>
            <a:ext cx="10881360" cy="1760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1400"/>
              </a:lnSpc>
              <a:spcBef>
                <a:spcPts val="800"/>
              </a:spcBef>
              <a:defRPr sz="1000">
                <a:solidFill>
                  <a:srgbClr val="666666"/>
                </a:solidFill>
                <a:latin typeface="Helvetica Neue"/>
                <a:ea typeface="Helvetica Neue"/>
                <a:cs typeface="Helvetica Neue"/>
                <a:sym typeface="Helvetica Neue"/>
              </a:defRPr>
            </a:lvl1pPr>
          </a:lstStyle>
          <a:p>
            <a:r>
              <a:t>Perfect Scabs, 2025 | Mixed media | 40×47.5cm</a:t>
            </a:r>
          </a:p>
        </p:txBody>
      </p:sp>
      <p:sp>
        <p:nvSpPr>
          <p:cNvPr id="267" name="Text 4"/>
          <p:cNvSpPr txBox="1"/>
          <p:nvPr/>
        </p:nvSpPr>
        <p:spPr>
          <a:xfrm>
            <a:off x="761999" y="2834679"/>
            <a:ext cx="10622282" cy="627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just" defTabSz="1219200">
              <a:lnSpc>
                <a:spcPts val="2500"/>
              </a:lnSpc>
              <a:defRPr sz="1200">
                <a:solidFill>
                  <a:srgbClr val="424242"/>
                </a:solidFill>
                <a:latin typeface="Georgia"/>
                <a:ea typeface="Georgia"/>
                <a:cs typeface="Georgia"/>
                <a:sym typeface="Georgia"/>
              </a:defRPr>
            </a:lvl1pPr>
          </a:lstStyle>
          <a:p>
            <a:r>
              <a:t>'딱지'는 상처가 아무는 과정에서 생기는 보호막이다. 작가는 이 치유의 흔적에 '완전한'이라는 수식어를 붙인다. 상처는 결함이 아니라, 치유를 향해 가는 과정 그 자체가 완전함이라는 역설을 담고 있다.</a:t>
            </a:r>
          </a:p>
        </p:txBody>
      </p:sp>
      <p:sp>
        <p:nvSpPr>
          <p:cNvPr id="268" name="Text 5"/>
          <p:cNvSpPr txBox="1"/>
          <p:nvPr/>
        </p:nvSpPr>
        <p:spPr>
          <a:xfrm>
            <a:off x="761999" y="3738761"/>
            <a:ext cx="10622282" cy="6275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just" defTabSz="1219200">
              <a:lnSpc>
                <a:spcPts val="2500"/>
              </a:lnSpc>
              <a:defRPr sz="1200">
                <a:solidFill>
                  <a:srgbClr val="424242"/>
                </a:solidFill>
                <a:latin typeface="Georgia"/>
                <a:ea typeface="Georgia"/>
                <a:cs typeface="Georgia"/>
                <a:sym typeface="Georgia"/>
              </a:defRPr>
            </a:lvl1pPr>
          </a:lstStyle>
          <a:p>
            <a:r>
              <a:t>정장 차림의 상반신 위로 점성 있는 물질이 얼굴 전체를 뒤덮는다. 노랑, 빨강, 검정, 초록, 주황, 분홍—각기 다른 색채는 각기 다른 감정의 온도를 담는다. 얼굴의 윤곽은 남아 있으나 구체적인 이목구비는 지워졌다.</a:t>
            </a:r>
          </a:p>
        </p:txBody>
      </p:sp>
      <p:sp>
        <p:nvSpPr>
          <p:cNvPr id="269" name="Text 6"/>
          <p:cNvSpPr txBox="1"/>
          <p:nvPr/>
        </p:nvSpPr>
        <p:spPr>
          <a:xfrm>
            <a:off x="761999" y="4642842"/>
            <a:ext cx="10622282" cy="627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just" defTabSz="1219200">
              <a:lnSpc>
                <a:spcPts val="2500"/>
              </a:lnSpc>
              <a:defRPr sz="1200">
                <a:solidFill>
                  <a:srgbClr val="424242"/>
                </a:solidFill>
                <a:latin typeface="Georgia"/>
                <a:ea typeface="Georgia"/>
                <a:cs typeface="Georgia"/>
                <a:sym typeface="Georgia"/>
              </a:defRPr>
            </a:lvl1pPr>
          </a:lstStyle>
          <a:p>
            <a:r>
              <a:t>작가 노트 "나를 지우면 진정한 내가 드러난다"는 이 시리즈에서 가장 직접적으로 구현된다. 얼굴을 덮은 색채 덩어리는 지움의 행위이자 동시에 드러냄의 행위다. 사회적 페르소나(정장)와 내면의 혼란(왜곡된 얼굴) 사이의 긴장이 화면을 가득 채운다.</a:t>
            </a:r>
          </a:p>
        </p:txBody>
      </p:sp>
      <p:sp>
        <p:nvSpPr>
          <p:cNvPr id="270" name="Text 7"/>
          <p:cNvSpPr/>
          <p:nvPr/>
        </p:nvSpPr>
        <p:spPr>
          <a:xfrm>
            <a:off x="761999" y="6096000"/>
            <a:ext cx="254001" cy="254000"/>
          </a:xfrm>
          <a:prstGeom prst="rect">
            <a:avLst/>
          </a:prstGeom>
          <a:solidFill>
            <a:srgbClr val="E8C547"/>
          </a:solidFill>
          <a:ln w="12700">
            <a:miter lim="400000"/>
          </a:ln>
        </p:spPr>
        <p:txBody>
          <a:bodyPr lIns="60959" tIns="60959" rIns="60959" bIns="60959" anchor="ctr"/>
          <a:lstStyle/>
          <a:p>
            <a:pPr defTabSz="1219200">
              <a:defRPr sz="2400"/>
            </a:pPr>
            <a:endParaRPr/>
          </a:p>
        </p:txBody>
      </p:sp>
      <p:sp>
        <p:nvSpPr>
          <p:cNvPr id="271" name="Text 8"/>
          <p:cNvSpPr/>
          <p:nvPr/>
        </p:nvSpPr>
        <p:spPr>
          <a:xfrm>
            <a:off x="1142999" y="6096000"/>
            <a:ext cx="254001" cy="254000"/>
          </a:xfrm>
          <a:prstGeom prst="rect">
            <a:avLst/>
          </a:prstGeom>
          <a:solidFill>
            <a:srgbClr val="8B3A3A"/>
          </a:solidFill>
          <a:ln w="12700">
            <a:miter lim="400000"/>
          </a:ln>
        </p:spPr>
        <p:txBody>
          <a:bodyPr lIns="60959" tIns="60959" rIns="60959" bIns="60959" anchor="ctr"/>
          <a:lstStyle/>
          <a:p>
            <a:pPr defTabSz="1219200">
              <a:defRPr sz="2400"/>
            </a:pPr>
            <a:endParaRPr/>
          </a:p>
        </p:txBody>
      </p:sp>
      <p:sp>
        <p:nvSpPr>
          <p:cNvPr id="272" name="Text 9"/>
          <p:cNvSpPr/>
          <p:nvPr/>
        </p:nvSpPr>
        <p:spPr>
          <a:xfrm>
            <a:off x="1523999" y="6096000"/>
            <a:ext cx="254001" cy="254000"/>
          </a:xfrm>
          <a:prstGeom prst="rect">
            <a:avLst/>
          </a:prstGeom>
          <a:solidFill>
            <a:srgbClr val="1A1A1A"/>
          </a:solidFill>
          <a:ln w="12700">
            <a:solidFill>
              <a:srgbClr val="333333"/>
            </a:solidFill>
          </a:ln>
        </p:spPr>
        <p:txBody>
          <a:bodyPr lIns="60959" tIns="60959" rIns="60959" bIns="60959" anchor="ctr"/>
          <a:lstStyle/>
          <a:p>
            <a:pPr defTabSz="1219200">
              <a:defRPr sz="2400"/>
            </a:pPr>
            <a:endParaRPr/>
          </a:p>
        </p:txBody>
      </p:sp>
      <p:sp>
        <p:nvSpPr>
          <p:cNvPr id="273" name="Text 10"/>
          <p:cNvSpPr/>
          <p:nvPr/>
        </p:nvSpPr>
        <p:spPr>
          <a:xfrm>
            <a:off x="1904999" y="6096000"/>
            <a:ext cx="254001" cy="254000"/>
          </a:xfrm>
          <a:prstGeom prst="rect">
            <a:avLst/>
          </a:prstGeom>
          <a:solidFill>
            <a:srgbClr val="2D5A3D"/>
          </a:solidFill>
          <a:ln w="12700">
            <a:miter lim="400000"/>
          </a:ln>
        </p:spPr>
        <p:txBody>
          <a:bodyPr lIns="60959" tIns="60959" rIns="60959" bIns="60959" anchor="ctr"/>
          <a:lstStyle/>
          <a:p>
            <a:pPr defTabSz="1219200">
              <a:defRPr sz="2400"/>
            </a:pPr>
            <a:endParaRPr/>
          </a:p>
        </p:txBody>
      </p:sp>
      <p:sp>
        <p:nvSpPr>
          <p:cNvPr id="274" name="Text 11"/>
          <p:cNvSpPr/>
          <p:nvPr/>
        </p:nvSpPr>
        <p:spPr>
          <a:xfrm>
            <a:off x="2285999" y="6096000"/>
            <a:ext cx="254001" cy="254000"/>
          </a:xfrm>
          <a:prstGeom prst="rect">
            <a:avLst/>
          </a:prstGeom>
          <a:solidFill>
            <a:srgbClr val="D4875E"/>
          </a:solidFill>
          <a:ln w="12700">
            <a:miter lim="400000"/>
          </a:ln>
        </p:spPr>
        <p:txBody>
          <a:bodyPr lIns="60959" tIns="60959" rIns="60959" bIns="60959" anchor="ctr"/>
          <a:lstStyle/>
          <a:p>
            <a:pPr defTabSz="1219200">
              <a:defRPr sz="2400"/>
            </a:pPr>
            <a:endParaRPr/>
          </a:p>
        </p:txBody>
      </p:sp>
      <p:sp>
        <p:nvSpPr>
          <p:cNvPr id="275" name="Text 12"/>
          <p:cNvSpPr/>
          <p:nvPr/>
        </p:nvSpPr>
        <p:spPr>
          <a:xfrm>
            <a:off x="2666999" y="6096000"/>
            <a:ext cx="254001" cy="254000"/>
          </a:xfrm>
          <a:prstGeom prst="rect">
            <a:avLst/>
          </a:prstGeom>
          <a:solidFill>
            <a:srgbClr val="D4A5A5"/>
          </a:solidFill>
          <a:ln w="12700">
            <a:miter lim="400000"/>
          </a:ln>
        </p:spPr>
        <p:txBody>
          <a:bodyPr lIns="60959" tIns="60959" rIns="60959" bIns="60959" anchor="ctr"/>
          <a:lstStyle/>
          <a:p>
            <a:pPr defTabSz="1219200">
              <a:defRPr sz="2400"/>
            </a:pPr>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Shape 0"/>
          <p:cNvSpPr/>
          <p:nvPr/>
        </p:nvSpPr>
        <p:spPr>
          <a:xfrm>
            <a:off x="-1" y="0"/>
            <a:ext cx="12191697" cy="6858000"/>
          </a:xfrm>
          <a:prstGeom prst="rect">
            <a:avLst/>
          </a:prstGeom>
          <a:solidFill>
            <a:srgbClr val="F3F4F6"/>
          </a:solidFill>
          <a:ln w="12700">
            <a:miter lim="400000"/>
          </a:ln>
        </p:spPr>
        <p:txBody>
          <a:bodyPr lIns="45719" rIns="45719"/>
          <a:lstStyle/>
          <a:p>
            <a:endParaRPr/>
          </a:p>
        </p:txBody>
      </p:sp>
      <p:sp>
        <p:nvSpPr>
          <p:cNvPr id="278" name="Shape 1"/>
          <p:cNvSpPr/>
          <p:nvPr/>
        </p:nvSpPr>
        <p:spPr>
          <a:xfrm>
            <a:off x="-1" y="0"/>
            <a:ext cx="12191697" cy="6858000"/>
          </a:xfrm>
          <a:prstGeom prst="rect">
            <a:avLst/>
          </a:prstGeom>
          <a:solidFill>
            <a:srgbClr val="FFFFFF"/>
          </a:solidFill>
          <a:ln w="12700">
            <a:miter lim="400000"/>
          </a:ln>
        </p:spPr>
        <p:txBody>
          <a:bodyPr lIns="45719" rIns="45719"/>
          <a:lstStyle/>
          <a:p>
            <a:endParaRPr/>
          </a:p>
        </p:txBody>
      </p:sp>
      <p:sp>
        <p:nvSpPr>
          <p:cNvPr id="279" name="Shape 2"/>
          <p:cNvSpPr/>
          <p:nvPr/>
        </p:nvSpPr>
        <p:spPr>
          <a:xfrm>
            <a:off x="-1" y="0"/>
            <a:ext cx="7114948" cy="6858000"/>
          </a:xfrm>
          <a:prstGeom prst="rect">
            <a:avLst/>
          </a:prstGeom>
          <a:solidFill>
            <a:srgbClr val="F9FAFB"/>
          </a:solidFill>
          <a:ln w="12700">
            <a:miter lim="400000"/>
          </a:ln>
        </p:spPr>
        <p:txBody>
          <a:bodyPr lIns="45719" rIns="45719"/>
          <a:lstStyle/>
          <a:p>
            <a:endParaRPr/>
          </a:p>
        </p:txBody>
      </p:sp>
      <p:sp>
        <p:nvSpPr>
          <p:cNvPr id="280" name="Text 3"/>
          <p:cNvSpPr txBox="1"/>
          <p:nvPr/>
        </p:nvSpPr>
        <p:spPr>
          <a:xfrm>
            <a:off x="3465576" y="3335528"/>
            <a:ext cx="295352"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b="1">
                <a:solidFill>
                  <a:srgbClr val="E5E7EB">
                    <a:alpha val="60000"/>
                  </a:srgbClr>
                </a:solidFill>
                <a:latin typeface="Noto Serif KR"/>
                <a:ea typeface="Noto Serif KR"/>
                <a:cs typeface="Noto Serif KR"/>
                <a:sym typeface="Noto Serif KR"/>
              </a:defRPr>
            </a:lvl1pPr>
          </a:lstStyle>
          <a:p>
            <a:r>
              <a:t>04</a:t>
            </a:r>
          </a:p>
        </p:txBody>
      </p:sp>
      <p:sp>
        <p:nvSpPr>
          <p:cNvPr id="281" name="Shape 4"/>
          <p:cNvSpPr/>
          <p:nvPr/>
        </p:nvSpPr>
        <p:spPr>
          <a:xfrm>
            <a:off x="7100366" y="857707"/>
            <a:ext cx="12701" cy="5143501"/>
          </a:xfrm>
          <a:prstGeom prst="rect">
            <a:avLst/>
          </a:prstGeom>
          <a:solidFill>
            <a:srgbClr val="E5E7EB"/>
          </a:solidFill>
          <a:ln w="12700">
            <a:miter lim="400000"/>
          </a:ln>
        </p:spPr>
        <p:txBody>
          <a:bodyPr lIns="45719" rIns="45719"/>
          <a:lstStyle/>
          <a:p>
            <a:endParaRPr/>
          </a:p>
        </p:txBody>
      </p:sp>
      <p:sp>
        <p:nvSpPr>
          <p:cNvPr id="282" name="Shape 5"/>
          <p:cNvSpPr/>
          <p:nvPr/>
        </p:nvSpPr>
        <p:spPr>
          <a:xfrm>
            <a:off x="7112203" y="0"/>
            <a:ext cx="5086808" cy="6858000"/>
          </a:xfrm>
          <a:prstGeom prst="rect">
            <a:avLst/>
          </a:prstGeom>
          <a:solidFill>
            <a:srgbClr val="FFFFFF"/>
          </a:solidFill>
          <a:ln w="12700">
            <a:miter lim="400000"/>
          </a:ln>
        </p:spPr>
        <p:txBody>
          <a:bodyPr lIns="45719" rIns="45719"/>
          <a:lstStyle/>
          <a:p>
            <a:endParaRPr/>
          </a:p>
        </p:txBody>
      </p:sp>
      <p:sp>
        <p:nvSpPr>
          <p:cNvPr id="283" name="Shape 6"/>
          <p:cNvSpPr/>
          <p:nvPr/>
        </p:nvSpPr>
        <p:spPr>
          <a:xfrm>
            <a:off x="7721193" y="679450"/>
            <a:ext cx="304496" cy="12700"/>
          </a:xfrm>
          <a:prstGeom prst="rect">
            <a:avLst/>
          </a:prstGeom>
          <a:solidFill>
            <a:srgbClr val="1E3A8A"/>
          </a:solidFill>
          <a:ln w="12700">
            <a:miter lim="400000"/>
          </a:ln>
        </p:spPr>
        <p:txBody>
          <a:bodyPr lIns="45719" rIns="45719"/>
          <a:lstStyle/>
          <a:p>
            <a:endParaRPr/>
          </a:p>
        </p:txBody>
      </p:sp>
      <p:sp>
        <p:nvSpPr>
          <p:cNvPr id="284" name="Text 7"/>
          <p:cNvSpPr txBox="1"/>
          <p:nvPr/>
        </p:nvSpPr>
        <p:spPr>
          <a:xfrm>
            <a:off x="8140903" y="611377"/>
            <a:ext cx="1105511"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b="1">
                <a:solidFill>
                  <a:srgbClr val="1E3A8A"/>
                </a:solidFill>
                <a:latin typeface="Noto Sans KR"/>
                <a:ea typeface="Noto Sans KR"/>
                <a:cs typeface="Noto Sans KR"/>
                <a:sym typeface="Noto Sans KR"/>
              </a:defRPr>
            </a:lvl1pPr>
          </a:lstStyle>
          <a:p>
            <a:r>
              <a:t>FEATURED SERIES</a:t>
            </a:r>
          </a:p>
        </p:txBody>
      </p:sp>
      <p:sp>
        <p:nvSpPr>
          <p:cNvPr id="285" name="Text 8"/>
          <p:cNvSpPr txBox="1"/>
          <p:nvPr/>
        </p:nvSpPr>
        <p:spPr>
          <a:xfrm>
            <a:off x="7721193" y="922527"/>
            <a:ext cx="2524659" cy="5461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3600" b="1">
                <a:solidFill>
                  <a:srgbClr val="111827"/>
                </a:solidFill>
                <a:latin typeface="Noto Serif KR"/>
                <a:ea typeface="Noto Serif KR"/>
                <a:cs typeface="Noto Serif KR"/>
                <a:sym typeface="Noto Serif KR"/>
              </a:defRPr>
            </a:lvl1pPr>
          </a:lstStyle>
          <a:p>
            <a:r>
              <a:t>Lightrain</a:t>
            </a:r>
          </a:p>
        </p:txBody>
      </p:sp>
      <p:sp>
        <p:nvSpPr>
          <p:cNvPr id="286" name="Text 9"/>
          <p:cNvSpPr txBox="1"/>
          <p:nvPr/>
        </p:nvSpPr>
        <p:spPr>
          <a:xfrm>
            <a:off x="7721193" y="1570213"/>
            <a:ext cx="905257" cy="2419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500">
                <a:solidFill>
                  <a:srgbClr val="6B7280"/>
                </a:solidFill>
                <a:latin typeface="Noto Sans KR"/>
                <a:ea typeface="Noto Sans KR"/>
                <a:cs typeface="Noto Sans KR"/>
                <a:sym typeface="Noto Sans KR"/>
              </a:defRPr>
            </a:lvl1pPr>
          </a:lstStyle>
          <a:p>
            <a:r>
              <a:t>빛의 낙하</a:t>
            </a:r>
          </a:p>
        </p:txBody>
      </p:sp>
      <p:sp>
        <p:nvSpPr>
          <p:cNvPr id="287" name="Shape 10"/>
          <p:cNvSpPr/>
          <p:nvPr/>
        </p:nvSpPr>
        <p:spPr>
          <a:xfrm>
            <a:off x="7721193" y="2286000"/>
            <a:ext cx="19203" cy="267005"/>
          </a:xfrm>
          <a:prstGeom prst="rect">
            <a:avLst/>
          </a:prstGeom>
          <a:solidFill>
            <a:srgbClr val="111827"/>
          </a:solidFill>
          <a:ln w="12700">
            <a:miter lim="400000"/>
          </a:ln>
        </p:spPr>
        <p:txBody>
          <a:bodyPr lIns="45719" rIns="45719"/>
          <a:lstStyle/>
          <a:p>
            <a:endParaRPr/>
          </a:p>
        </p:txBody>
      </p:sp>
      <p:sp>
        <p:nvSpPr>
          <p:cNvPr id="288" name="Text 11"/>
          <p:cNvSpPr txBox="1"/>
          <p:nvPr/>
        </p:nvSpPr>
        <p:spPr>
          <a:xfrm>
            <a:off x="7893101" y="2311664"/>
            <a:ext cx="1948586" cy="2147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300">
                <a:solidFill>
                  <a:srgbClr val="1F2937"/>
                </a:solidFill>
                <a:latin typeface="Noto Serif KR"/>
                <a:ea typeface="Noto Serif KR"/>
                <a:cs typeface="Noto Serif KR"/>
                <a:sym typeface="Noto Serif KR"/>
              </a:defRPr>
            </a:lvl1pPr>
          </a:lstStyle>
          <a:p>
            <a:r>
              <a:t>어둠을 가르는 빛의 응집</a:t>
            </a:r>
          </a:p>
        </p:txBody>
      </p:sp>
      <p:sp>
        <p:nvSpPr>
          <p:cNvPr id="289" name="Text 12"/>
          <p:cNvSpPr txBox="1"/>
          <p:nvPr/>
        </p:nvSpPr>
        <p:spPr>
          <a:xfrm>
            <a:off x="7721193" y="2758108"/>
            <a:ext cx="2119580" cy="161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4B5563"/>
                </a:solidFill>
                <a:latin typeface="Noto Sans KR"/>
                <a:ea typeface="Noto Sans KR"/>
                <a:cs typeface="Noto Sans KR"/>
                <a:sym typeface="Noto Sans KR"/>
              </a:defRPr>
            </a:lvl1pPr>
          </a:lstStyle>
          <a:p>
            <a:r>
              <a:t>"어둠은 빛을 더욱 선명하게 만든다."</a:t>
            </a:r>
          </a:p>
        </p:txBody>
      </p:sp>
      <p:sp>
        <p:nvSpPr>
          <p:cNvPr id="290" name="Text 13"/>
          <p:cNvSpPr txBox="1"/>
          <p:nvPr/>
        </p:nvSpPr>
        <p:spPr>
          <a:xfrm>
            <a:off x="7721193" y="3217641"/>
            <a:ext cx="3967582" cy="6129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nSpc>
                <a:spcPct val="140000"/>
              </a:lnSpc>
              <a:defRPr sz="1000">
                <a:solidFill>
                  <a:srgbClr val="4B5563"/>
                </a:solidFill>
                <a:latin typeface="Noto Sans KR"/>
                <a:ea typeface="Noto Sans KR"/>
                <a:cs typeface="Noto Sans KR"/>
                <a:sym typeface="Noto Sans KR"/>
              </a:defRPr>
            </a:lvl1pPr>
          </a:lstStyle>
          <a:p>
            <a:r>
              <a:t>Lightrain 시리즈는 칠흑 같은 어둠 속으로 쏟아지는 빛줄기를 형상화합니다. 작가는 거친 입자와 수많은 점, 선들을 반복적으로 중첩시켜 빛의 질감을 물질적으로 구현해냈습니다.</a:t>
            </a:r>
          </a:p>
        </p:txBody>
      </p:sp>
      <p:sp>
        <p:nvSpPr>
          <p:cNvPr id="291" name="Text 14"/>
          <p:cNvSpPr txBox="1"/>
          <p:nvPr/>
        </p:nvSpPr>
        <p:spPr>
          <a:xfrm>
            <a:off x="7721193" y="4291415"/>
            <a:ext cx="3967582" cy="3709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nSpc>
                <a:spcPct val="130000"/>
              </a:lnSpc>
              <a:defRPr sz="1000">
                <a:solidFill>
                  <a:srgbClr val="4B5563"/>
                </a:solidFill>
                <a:latin typeface="Noto Sans KR"/>
                <a:ea typeface="Noto Sans KR"/>
                <a:cs typeface="Noto Sans KR"/>
                <a:sym typeface="Noto Sans KR"/>
              </a:defRPr>
            </a:lvl1pPr>
          </a:lstStyle>
          <a:p>
            <a:r>
              <a:t>하늘에서 비처럼 내리는 빛(Lightrain)은 단순한 밝음을 넘어, 깊은 심연을 뚫고 내려오는 구원의 메타포이자 강렬한 에너지의 흐름을 상징합니다.</a:t>
            </a:r>
          </a:p>
        </p:txBody>
      </p:sp>
      <p:sp>
        <p:nvSpPr>
          <p:cNvPr id="292" name="Shape 15"/>
          <p:cNvSpPr/>
          <p:nvPr/>
        </p:nvSpPr>
        <p:spPr>
          <a:xfrm>
            <a:off x="7721193" y="5361177"/>
            <a:ext cx="3866999" cy="12701"/>
          </a:xfrm>
          <a:prstGeom prst="rect">
            <a:avLst/>
          </a:prstGeom>
          <a:solidFill>
            <a:srgbClr val="F3F4F6"/>
          </a:solidFill>
          <a:ln w="12700">
            <a:miter lim="400000"/>
          </a:ln>
        </p:spPr>
        <p:txBody>
          <a:bodyPr lIns="45719" rIns="45719"/>
          <a:lstStyle/>
          <a:p>
            <a:endParaRPr/>
          </a:p>
        </p:txBody>
      </p:sp>
      <p:sp>
        <p:nvSpPr>
          <p:cNvPr id="293" name="Text 16"/>
          <p:cNvSpPr txBox="1"/>
          <p:nvPr/>
        </p:nvSpPr>
        <p:spPr>
          <a:xfrm>
            <a:off x="7721193" y="5678982"/>
            <a:ext cx="790957"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MATERIALS</a:t>
            </a:r>
          </a:p>
        </p:txBody>
      </p:sp>
      <p:sp>
        <p:nvSpPr>
          <p:cNvPr id="294" name="Text 17"/>
          <p:cNvSpPr txBox="1"/>
          <p:nvPr/>
        </p:nvSpPr>
        <p:spPr>
          <a:xfrm>
            <a:off x="7721193" y="5905957"/>
            <a:ext cx="1576427" cy="30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374151"/>
                </a:solidFill>
                <a:latin typeface="Noto Serif KR"/>
                <a:ea typeface="Noto Serif KR"/>
                <a:cs typeface="Noto Serif KR"/>
                <a:sym typeface="Noto Serif KR"/>
              </a:defRPr>
            </a:lvl1pPr>
          </a:lstStyle>
          <a:p>
            <a:r>
              <a:t>Texture Paste, Acrylic, Mixed Media</a:t>
            </a:r>
          </a:p>
        </p:txBody>
      </p:sp>
      <p:sp>
        <p:nvSpPr>
          <p:cNvPr id="295" name="Text 18"/>
          <p:cNvSpPr txBox="1"/>
          <p:nvPr/>
        </p:nvSpPr>
        <p:spPr>
          <a:xfrm>
            <a:off x="9728302" y="5678982"/>
            <a:ext cx="838506"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TECHNIQUE</a:t>
            </a:r>
          </a:p>
        </p:txBody>
      </p:sp>
      <p:sp>
        <p:nvSpPr>
          <p:cNvPr id="296" name="Text 19"/>
          <p:cNvSpPr txBox="1"/>
          <p:nvPr/>
        </p:nvSpPr>
        <p:spPr>
          <a:xfrm>
            <a:off x="9728302" y="5887060"/>
            <a:ext cx="1414578" cy="152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000">
                <a:solidFill>
                  <a:srgbClr val="374151"/>
                </a:solidFill>
                <a:latin typeface="Noto Serif KR"/>
                <a:ea typeface="Noto Serif KR"/>
                <a:cs typeface="Noto Serif KR"/>
                <a:sym typeface="Noto Serif KR"/>
              </a:defRPr>
            </a:lvl1pPr>
          </a:lstStyle>
          <a:p>
            <a:r>
              <a:t>Dotting &amp; Texturing</a:t>
            </a:r>
          </a:p>
        </p:txBody>
      </p:sp>
      <p:sp>
        <p:nvSpPr>
          <p:cNvPr id="297" name="Shape 20"/>
          <p:cNvSpPr/>
          <p:nvPr/>
        </p:nvSpPr>
        <p:spPr>
          <a:xfrm>
            <a:off x="11296498" y="6495898"/>
            <a:ext cx="57608" cy="57608"/>
          </a:xfrm>
          <a:prstGeom prst="roundRect">
            <a:avLst>
              <a:gd name="adj" fmla="val 50000"/>
            </a:avLst>
          </a:prstGeom>
          <a:solidFill>
            <a:srgbClr val="D1D5DB"/>
          </a:solidFill>
          <a:ln w="12700">
            <a:miter lim="400000"/>
          </a:ln>
        </p:spPr>
        <p:txBody>
          <a:bodyPr lIns="45719" rIns="45719"/>
          <a:lstStyle/>
          <a:p>
            <a:endParaRPr/>
          </a:p>
        </p:txBody>
      </p:sp>
      <p:sp>
        <p:nvSpPr>
          <p:cNvPr id="298" name="Shape 21"/>
          <p:cNvSpPr/>
          <p:nvPr/>
        </p:nvSpPr>
        <p:spPr>
          <a:xfrm>
            <a:off x="11430000" y="6495898"/>
            <a:ext cx="57607" cy="57608"/>
          </a:xfrm>
          <a:prstGeom prst="roundRect">
            <a:avLst>
              <a:gd name="adj" fmla="val 50000"/>
            </a:avLst>
          </a:prstGeom>
          <a:solidFill>
            <a:srgbClr val="D1D5DB"/>
          </a:solidFill>
          <a:ln w="12700">
            <a:miter lim="400000"/>
          </a:ln>
        </p:spPr>
        <p:txBody>
          <a:bodyPr lIns="45719" rIns="45719"/>
          <a:lstStyle/>
          <a:p>
            <a:endParaRPr/>
          </a:p>
        </p:txBody>
      </p:sp>
      <p:sp>
        <p:nvSpPr>
          <p:cNvPr id="299" name="Shape 22"/>
          <p:cNvSpPr/>
          <p:nvPr/>
        </p:nvSpPr>
        <p:spPr>
          <a:xfrm>
            <a:off x="11563501" y="6495898"/>
            <a:ext cx="57608" cy="57608"/>
          </a:xfrm>
          <a:prstGeom prst="roundRect">
            <a:avLst>
              <a:gd name="adj" fmla="val 50000"/>
            </a:avLst>
          </a:prstGeom>
          <a:solidFill>
            <a:srgbClr val="D1D5DB"/>
          </a:solidFill>
          <a:ln w="12700">
            <a:miter lim="400000"/>
          </a:ln>
        </p:spPr>
        <p:txBody>
          <a:bodyPr lIns="45719" rIns="45719"/>
          <a:lstStyle/>
          <a:p>
            <a:endParaRPr/>
          </a:p>
        </p:txBody>
      </p:sp>
      <p:sp>
        <p:nvSpPr>
          <p:cNvPr id="300" name="Shape 23"/>
          <p:cNvSpPr/>
          <p:nvPr/>
        </p:nvSpPr>
        <p:spPr>
          <a:xfrm>
            <a:off x="11697004" y="6495898"/>
            <a:ext cx="57608" cy="57608"/>
          </a:xfrm>
          <a:prstGeom prst="roundRect">
            <a:avLst>
              <a:gd name="adj" fmla="val 50000"/>
            </a:avLst>
          </a:prstGeom>
          <a:solidFill>
            <a:srgbClr val="1F2937"/>
          </a:solidFill>
          <a:ln w="12700">
            <a:miter lim="400000"/>
          </a:ln>
        </p:spPr>
        <p:txBody>
          <a:bodyPr lIns="45719" rIns="45719"/>
          <a:lstStyle/>
          <a:p>
            <a:endParaRPr/>
          </a:p>
        </p:txBody>
      </p:sp>
      <p:sp>
        <p:nvSpPr>
          <p:cNvPr id="301" name="Shape 24"/>
          <p:cNvSpPr/>
          <p:nvPr/>
        </p:nvSpPr>
        <p:spPr>
          <a:xfrm>
            <a:off x="11829592" y="6495898"/>
            <a:ext cx="57608" cy="57608"/>
          </a:xfrm>
          <a:prstGeom prst="roundRect">
            <a:avLst>
              <a:gd name="adj" fmla="val 50000"/>
            </a:avLst>
          </a:prstGeom>
          <a:solidFill>
            <a:srgbClr val="D1D5DB"/>
          </a:solidFill>
          <a:ln w="12700">
            <a:miter lim="400000"/>
          </a:ln>
        </p:spPr>
        <p:txBody>
          <a:bodyPr lIns="45719" rIns="45719"/>
          <a:lstStyle/>
          <a:p>
            <a:endParaRPr/>
          </a:p>
        </p:txBody>
      </p:sp>
      <p:pic>
        <p:nvPicPr>
          <p:cNvPr id="302" name="Image 0" descr="Image 0"/>
          <p:cNvPicPr>
            <a:picLocks noChangeAspect="1"/>
          </p:cNvPicPr>
          <p:nvPr/>
        </p:nvPicPr>
        <p:blipFill>
          <a:blip r:embed="rId2"/>
          <a:srcRect l="9" r="9"/>
          <a:stretch>
            <a:fillRect/>
          </a:stretch>
        </p:blipFill>
        <p:spPr>
          <a:xfrm>
            <a:off x="3997617" y="2799238"/>
            <a:ext cx="2971801" cy="3543301"/>
          </a:xfrm>
          <a:prstGeom prst="rect">
            <a:avLst/>
          </a:prstGeom>
          <a:ln w="12700">
            <a:miter lim="400000"/>
          </a:ln>
        </p:spPr>
      </p:pic>
      <p:pic>
        <p:nvPicPr>
          <p:cNvPr id="303" name="Image 1" descr="Image 1"/>
          <p:cNvPicPr>
            <a:picLocks noChangeAspect="1"/>
          </p:cNvPicPr>
          <p:nvPr/>
        </p:nvPicPr>
        <p:blipFill>
          <a:blip r:embed="rId3"/>
          <a:srcRect l="147" r="147"/>
          <a:stretch>
            <a:fillRect/>
          </a:stretch>
        </p:blipFill>
        <p:spPr>
          <a:xfrm>
            <a:off x="175333" y="795944"/>
            <a:ext cx="3691305" cy="4613748"/>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Shape 0"/>
          <p:cNvSpPr/>
          <p:nvPr/>
        </p:nvSpPr>
        <p:spPr>
          <a:xfrm>
            <a:off x="-1" y="0"/>
            <a:ext cx="12191697" cy="6858000"/>
          </a:xfrm>
          <a:prstGeom prst="rect">
            <a:avLst/>
          </a:prstGeom>
          <a:solidFill>
            <a:srgbClr val="FFFFFF"/>
          </a:solidFill>
          <a:ln w="12700">
            <a:miter lim="400000"/>
          </a:ln>
        </p:spPr>
        <p:txBody>
          <a:bodyPr lIns="45719" rIns="45719"/>
          <a:lstStyle/>
          <a:p>
            <a:endParaRPr/>
          </a:p>
        </p:txBody>
      </p:sp>
      <p:sp>
        <p:nvSpPr>
          <p:cNvPr id="306" name="Shape 1"/>
          <p:cNvSpPr/>
          <p:nvPr/>
        </p:nvSpPr>
        <p:spPr>
          <a:xfrm>
            <a:off x="-1" y="0"/>
            <a:ext cx="12191697" cy="6858000"/>
          </a:xfrm>
          <a:prstGeom prst="rect">
            <a:avLst/>
          </a:prstGeom>
          <a:solidFill>
            <a:srgbClr val="FFFFFF"/>
          </a:solidFill>
          <a:ln w="12700">
            <a:miter lim="400000"/>
          </a:ln>
        </p:spPr>
        <p:txBody>
          <a:bodyPr lIns="45719" rIns="45719"/>
          <a:lstStyle/>
          <a:p>
            <a:endParaRPr/>
          </a:p>
        </p:txBody>
      </p:sp>
      <p:sp>
        <p:nvSpPr>
          <p:cNvPr id="307" name="Shape 2"/>
          <p:cNvSpPr/>
          <p:nvPr/>
        </p:nvSpPr>
        <p:spPr>
          <a:xfrm>
            <a:off x="533095" y="1313129"/>
            <a:ext cx="11125505" cy="12701"/>
          </a:xfrm>
          <a:prstGeom prst="rect">
            <a:avLst/>
          </a:prstGeom>
          <a:solidFill>
            <a:srgbClr val="F3F4F6"/>
          </a:solidFill>
          <a:ln w="12700">
            <a:miter lim="400000"/>
          </a:ln>
        </p:spPr>
        <p:txBody>
          <a:bodyPr lIns="45719" rIns="45719"/>
          <a:lstStyle/>
          <a:p>
            <a:endParaRPr/>
          </a:p>
        </p:txBody>
      </p:sp>
      <p:sp>
        <p:nvSpPr>
          <p:cNvPr id="308" name="Shape 3"/>
          <p:cNvSpPr/>
          <p:nvPr/>
        </p:nvSpPr>
        <p:spPr>
          <a:xfrm>
            <a:off x="533094" y="602640"/>
            <a:ext cx="228601" cy="12701"/>
          </a:xfrm>
          <a:prstGeom prst="rect">
            <a:avLst/>
          </a:prstGeom>
          <a:solidFill>
            <a:srgbClr val="60A5FA"/>
          </a:solidFill>
          <a:ln w="12700">
            <a:miter lim="400000"/>
          </a:ln>
        </p:spPr>
        <p:txBody>
          <a:bodyPr lIns="45719" rIns="45719"/>
          <a:lstStyle/>
          <a:p>
            <a:endParaRPr/>
          </a:p>
        </p:txBody>
      </p:sp>
      <p:sp>
        <p:nvSpPr>
          <p:cNvPr id="309" name="Text 4"/>
          <p:cNvSpPr txBox="1"/>
          <p:nvPr/>
        </p:nvSpPr>
        <p:spPr>
          <a:xfrm>
            <a:off x="875994" y="535482"/>
            <a:ext cx="1114655"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b="1">
                <a:solidFill>
                  <a:srgbClr val="6B7280"/>
                </a:solidFill>
                <a:latin typeface="Noto Sans KR"/>
                <a:ea typeface="Noto Sans KR"/>
                <a:cs typeface="Noto Sans KR"/>
                <a:sym typeface="Noto Sans KR"/>
              </a:defRPr>
            </a:lvl1pPr>
          </a:lstStyle>
          <a:p>
            <a:r>
              <a:t>SELECTED WORKS</a:t>
            </a:r>
          </a:p>
        </p:txBody>
      </p:sp>
      <p:sp>
        <p:nvSpPr>
          <p:cNvPr id="310" name="Text 5"/>
          <p:cNvSpPr txBox="1"/>
          <p:nvPr/>
        </p:nvSpPr>
        <p:spPr>
          <a:xfrm>
            <a:off x="533094" y="768960"/>
            <a:ext cx="4929532"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200" b="1">
                <a:solidFill>
                  <a:srgbClr val="111827"/>
                </a:solidFill>
                <a:latin typeface="Noto Serif KR"/>
                <a:ea typeface="Noto Serif KR"/>
                <a:cs typeface="Noto Serif KR"/>
                <a:sym typeface="Noto Serif KR"/>
              </a:defRPr>
            </a:lvl1pPr>
          </a:lstStyle>
          <a:p>
            <a:r>
              <a:t>Gallery II: Minimal &amp; Variations</a:t>
            </a:r>
          </a:p>
        </p:txBody>
      </p:sp>
      <p:sp>
        <p:nvSpPr>
          <p:cNvPr id="311" name="Text 6"/>
          <p:cNvSpPr txBox="1"/>
          <p:nvPr/>
        </p:nvSpPr>
        <p:spPr>
          <a:xfrm>
            <a:off x="10455250" y="943938"/>
            <a:ext cx="1310336" cy="161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9CA3AF"/>
                </a:solidFill>
                <a:latin typeface="Noto Sans KR"/>
                <a:ea typeface="Noto Sans KR"/>
                <a:cs typeface="Noto Sans KR"/>
                <a:sym typeface="Noto Sans KR"/>
              </a:defRPr>
            </a:lvl1pPr>
          </a:lstStyle>
          <a:p>
            <a:r>
              <a:t>미니멀 &amp; 색면 변주</a:t>
            </a:r>
          </a:p>
        </p:txBody>
      </p:sp>
      <p:sp>
        <p:nvSpPr>
          <p:cNvPr id="312" name="Shape 7"/>
          <p:cNvSpPr/>
          <p:nvPr/>
        </p:nvSpPr>
        <p:spPr>
          <a:xfrm>
            <a:off x="609905" y="1623974"/>
            <a:ext cx="2514601" cy="3590850"/>
          </a:xfrm>
          <a:prstGeom prst="roundRect">
            <a:avLst>
              <a:gd name="adj" fmla="val 275"/>
            </a:avLst>
          </a:prstGeom>
          <a:solidFill>
            <a:srgbClr val="F9FAFB"/>
          </a:solidFill>
          <a:ln w="12700">
            <a:miter lim="400000"/>
          </a:ln>
        </p:spPr>
        <p:txBody>
          <a:bodyPr lIns="45719" rIns="45719"/>
          <a:lstStyle/>
          <a:p>
            <a:endParaRPr/>
          </a:p>
        </p:txBody>
      </p:sp>
      <p:pic>
        <p:nvPicPr>
          <p:cNvPr id="313" name="Image 0" descr="Image 0"/>
          <p:cNvPicPr>
            <a:picLocks noChangeAspect="1"/>
          </p:cNvPicPr>
          <p:nvPr/>
        </p:nvPicPr>
        <p:blipFill>
          <a:blip r:embed="rId2"/>
          <a:srcRect l="3" r="2"/>
          <a:stretch>
            <a:fillRect/>
          </a:stretch>
        </p:blipFill>
        <p:spPr>
          <a:xfrm>
            <a:off x="761694" y="2079345"/>
            <a:ext cx="2210107" cy="2676450"/>
          </a:xfrm>
          <a:prstGeom prst="rect">
            <a:avLst/>
          </a:prstGeom>
          <a:ln w="12700">
            <a:miter lim="400000"/>
          </a:ln>
        </p:spPr>
      </p:pic>
      <p:sp>
        <p:nvSpPr>
          <p:cNvPr id="314" name="Text 8"/>
          <p:cNvSpPr txBox="1"/>
          <p:nvPr/>
        </p:nvSpPr>
        <p:spPr>
          <a:xfrm>
            <a:off x="2670961" y="4759400"/>
            <a:ext cx="557785"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200" b="1">
                <a:solidFill>
                  <a:srgbClr val="E5E7EB">
                    <a:alpha val="50000"/>
                  </a:srgbClr>
                </a:solidFill>
                <a:latin typeface="Noto Serif KR"/>
                <a:ea typeface="Noto Serif KR"/>
                <a:cs typeface="Noto Serif KR"/>
                <a:sym typeface="Noto Serif KR"/>
              </a:defRPr>
            </a:lvl1pPr>
          </a:lstStyle>
          <a:p>
            <a:r>
              <a:t>04</a:t>
            </a:r>
          </a:p>
        </p:txBody>
      </p:sp>
      <p:sp>
        <p:nvSpPr>
          <p:cNvPr id="315" name="Shape 9"/>
          <p:cNvSpPr/>
          <p:nvPr/>
        </p:nvSpPr>
        <p:spPr>
          <a:xfrm>
            <a:off x="609905" y="5362955"/>
            <a:ext cx="19203" cy="418795"/>
          </a:xfrm>
          <a:prstGeom prst="rect">
            <a:avLst/>
          </a:prstGeom>
          <a:solidFill>
            <a:srgbClr val="F3F4F6"/>
          </a:solidFill>
          <a:ln w="12700">
            <a:miter lim="400000"/>
          </a:ln>
        </p:spPr>
        <p:txBody>
          <a:bodyPr lIns="45719" rIns="45719"/>
          <a:lstStyle/>
          <a:p>
            <a:endParaRPr/>
          </a:p>
        </p:txBody>
      </p:sp>
      <p:sp>
        <p:nvSpPr>
          <p:cNvPr id="316" name="Text 10"/>
          <p:cNvSpPr txBox="1"/>
          <p:nvPr/>
        </p:nvSpPr>
        <p:spPr>
          <a:xfrm>
            <a:off x="705001" y="5345379"/>
            <a:ext cx="1191465"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a:solidFill>
                  <a:srgbClr val="111827"/>
                </a:solidFill>
                <a:latin typeface="Noto Serif KR"/>
                <a:ea typeface="Noto Serif KR"/>
                <a:cs typeface="Noto Serif KR"/>
                <a:sym typeface="Noto Serif KR"/>
              </a:defRPr>
            </a:lvl1pPr>
          </a:lstStyle>
          <a:p>
            <a:r>
              <a:t>White Texture</a:t>
            </a:r>
          </a:p>
        </p:txBody>
      </p:sp>
      <p:sp>
        <p:nvSpPr>
          <p:cNvPr id="317" name="Text 11"/>
          <p:cNvSpPr txBox="1"/>
          <p:nvPr/>
        </p:nvSpPr>
        <p:spPr>
          <a:xfrm>
            <a:off x="705001" y="5578550"/>
            <a:ext cx="1390804"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a:solidFill>
                  <a:srgbClr val="6B7280"/>
                </a:solidFill>
                <a:latin typeface="Noto Sans KR"/>
                <a:ea typeface="Noto Sans KR"/>
                <a:cs typeface="Noto Sans KR"/>
                <a:sym typeface="Noto Sans KR"/>
              </a:defRPr>
            </a:lvl1pPr>
          </a:lstStyle>
          <a:p>
            <a:r>
              <a:t>Mixed Media, 2024</a:t>
            </a:r>
          </a:p>
        </p:txBody>
      </p:sp>
      <p:sp>
        <p:nvSpPr>
          <p:cNvPr id="318" name="Shape 12"/>
          <p:cNvSpPr/>
          <p:nvPr/>
        </p:nvSpPr>
        <p:spPr>
          <a:xfrm>
            <a:off x="3429000" y="1623974"/>
            <a:ext cx="2514600" cy="3590850"/>
          </a:xfrm>
          <a:prstGeom prst="roundRect">
            <a:avLst>
              <a:gd name="adj" fmla="val 275"/>
            </a:avLst>
          </a:prstGeom>
          <a:solidFill>
            <a:srgbClr val="F9FAFB"/>
          </a:solidFill>
          <a:ln w="12700">
            <a:miter lim="400000"/>
          </a:ln>
        </p:spPr>
        <p:txBody>
          <a:bodyPr lIns="45719" rIns="45719"/>
          <a:lstStyle/>
          <a:p>
            <a:endParaRPr/>
          </a:p>
        </p:txBody>
      </p:sp>
      <p:pic>
        <p:nvPicPr>
          <p:cNvPr id="319" name="Image 1" descr="Image 1"/>
          <p:cNvPicPr>
            <a:picLocks noChangeAspect="1"/>
          </p:cNvPicPr>
          <p:nvPr/>
        </p:nvPicPr>
        <p:blipFill>
          <a:blip r:embed="rId3"/>
          <a:srcRect l="147" r="146"/>
          <a:stretch>
            <a:fillRect/>
          </a:stretch>
        </p:blipFill>
        <p:spPr>
          <a:xfrm>
            <a:off x="3581705" y="2040026"/>
            <a:ext cx="2210106" cy="2762402"/>
          </a:xfrm>
          <a:prstGeom prst="rect">
            <a:avLst/>
          </a:prstGeom>
          <a:ln w="12700">
            <a:miter lim="400000"/>
          </a:ln>
        </p:spPr>
      </p:pic>
      <p:sp>
        <p:nvSpPr>
          <p:cNvPr id="320" name="Text 13"/>
          <p:cNvSpPr txBox="1"/>
          <p:nvPr/>
        </p:nvSpPr>
        <p:spPr>
          <a:xfrm>
            <a:off x="5490057" y="4759400"/>
            <a:ext cx="557785"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200" b="1">
                <a:solidFill>
                  <a:srgbClr val="E5E7EB">
                    <a:alpha val="50000"/>
                  </a:srgbClr>
                </a:solidFill>
                <a:latin typeface="Noto Serif KR"/>
                <a:ea typeface="Noto Serif KR"/>
                <a:cs typeface="Noto Serif KR"/>
                <a:sym typeface="Noto Serif KR"/>
              </a:defRPr>
            </a:lvl1pPr>
          </a:lstStyle>
          <a:p>
            <a:r>
              <a:t>05</a:t>
            </a:r>
          </a:p>
        </p:txBody>
      </p:sp>
      <p:sp>
        <p:nvSpPr>
          <p:cNvPr id="321" name="Shape 14"/>
          <p:cNvSpPr/>
          <p:nvPr/>
        </p:nvSpPr>
        <p:spPr>
          <a:xfrm>
            <a:off x="3429000" y="5362955"/>
            <a:ext cx="19202" cy="418795"/>
          </a:xfrm>
          <a:prstGeom prst="rect">
            <a:avLst/>
          </a:prstGeom>
          <a:solidFill>
            <a:srgbClr val="F3F4F6"/>
          </a:solidFill>
          <a:ln w="12700">
            <a:miter lim="400000"/>
          </a:ln>
        </p:spPr>
        <p:txBody>
          <a:bodyPr lIns="45719" rIns="45719"/>
          <a:lstStyle/>
          <a:p>
            <a:endParaRPr/>
          </a:p>
        </p:txBody>
      </p:sp>
      <p:sp>
        <p:nvSpPr>
          <p:cNvPr id="322" name="Text 15"/>
          <p:cNvSpPr txBox="1"/>
          <p:nvPr/>
        </p:nvSpPr>
        <p:spPr>
          <a:xfrm>
            <a:off x="3524098" y="5345379"/>
            <a:ext cx="962864"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a:solidFill>
                  <a:srgbClr val="111827"/>
                </a:solidFill>
                <a:latin typeface="Noto Serif KR"/>
                <a:ea typeface="Noto Serif KR"/>
                <a:cs typeface="Noto Serif KR"/>
                <a:sym typeface="Noto Serif KR"/>
              </a:defRPr>
            </a:lvl1pPr>
          </a:lstStyle>
          <a:p>
            <a:r>
              <a:t>White Void</a:t>
            </a:r>
          </a:p>
        </p:txBody>
      </p:sp>
      <p:sp>
        <p:nvSpPr>
          <p:cNvPr id="323" name="Text 16"/>
          <p:cNvSpPr txBox="1"/>
          <p:nvPr/>
        </p:nvSpPr>
        <p:spPr>
          <a:xfrm>
            <a:off x="3524098" y="5578550"/>
            <a:ext cx="1390803"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a:solidFill>
                  <a:srgbClr val="6B7280"/>
                </a:solidFill>
                <a:latin typeface="Noto Sans KR"/>
                <a:ea typeface="Noto Sans KR"/>
                <a:cs typeface="Noto Sans KR"/>
                <a:sym typeface="Noto Sans KR"/>
              </a:defRPr>
            </a:lvl1pPr>
          </a:lstStyle>
          <a:p>
            <a:r>
              <a:t>Mixed Media, 2024</a:t>
            </a:r>
          </a:p>
        </p:txBody>
      </p:sp>
      <p:sp>
        <p:nvSpPr>
          <p:cNvPr id="324" name="Shape 17"/>
          <p:cNvSpPr/>
          <p:nvPr/>
        </p:nvSpPr>
        <p:spPr>
          <a:xfrm>
            <a:off x="6248094" y="1623974"/>
            <a:ext cx="2514601" cy="3590850"/>
          </a:xfrm>
          <a:prstGeom prst="roundRect">
            <a:avLst>
              <a:gd name="adj" fmla="val 275"/>
            </a:avLst>
          </a:prstGeom>
          <a:solidFill>
            <a:srgbClr val="F9FAFB"/>
          </a:solidFill>
          <a:ln w="12700">
            <a:miter lim="400000"/>
          </a:ln>
        </p:spPr>
        <p:txBody>
          <a:bodyPr lIns="45719" rIns="45719"/>
          <a:lstStyle/>
          <a:p>
            <a:endParaRPr/>
          </a:p>
        </p:txBody>
      </p:sp>
      <p:pic>
        <p:nvPicPr>
          <p:cNvPr id="325" name="Image 2" descr="Image 2"/>
          <p:cNvPicPr>
            <a:picLocks noChangeAspect="1"/>
          </p:cNvPicPr>
          <p:nvPr/>
        </p:nvPicPr>
        <p:blipFill>
          <a:blip r:embed="rId4"/>
          <a:srcRect l="65" r="65"/>
          <a:stretch>
            <a:fillRect/>
          </a:stretch>
        </p:blipFill>
        <p:spPr>
          <a:xfrm>
            <a:off x="6400800" y="2100377"/>
            <a:ext cx="2210105" cy="2638045"/>
          </a:xfrm>
          <a:prstGeom prst="rect">
            <a:avLst/>
          </a:prstGeom>
          <a:ln w="12700">
            <a:miter lim="400000"/>
          </a:ln>
        </p:spPr>
      </p:pic>
      <p:sp>
        <p:nvSpPr>
          <p:cNvPr id="326" name="Text 18"/>
          <p:cNvSpPr txBox="1"/>
          <p:nvPr/>
        </p:nvSpPr>
        <p:spPr>
          <a:xfrm>
            <a:off x="8309153" y="4759400"/>
            <a:ext cx="557785"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200" b="1">
                <a:solidFill>
                  <a:srgbClr val="E5E7EB">
                    <a:alpha val="50000"/>
                  </a:srgbClr>
                </a:solidFill>
                <a:latin typeface="Noto Serif KR"/>
                <a:ea typeface="Noto Serif KR"/>
                <a:cs typeface="Noto Serif KR"/>
                <a:sym typeface="Noto Serif KR"/>
              </a:defRPr>
            </a:lvl1pPr>
          </a:lstStyle>
          <a:p>
            <a:r>
              <a:t>06</a:t>
            </a:r>
          </a:p>
        </p:txBody>
      </p:sp>
      <p:sp>
        <p:nvSpPr>
          <p:cNvPr id="327" name="Shape 19"/>
          <p:cNvSpPr/>
          <p:nvPr/>
        </p:nvSpPr>
        <p:spPr>
          <a:xfrm>
            <a:off x="6248094" y="5362955"/>
            <a:ext cx="19203" cy="418795"/>
          </a:xfrm>
          <a:prstGeom prst="rect">
            <a:avLst/>
          </a:prstGeom>
          <a:solidFill>
            <a:srgbClr val="DBEAFE"/>
          </a:solidFill>
          <a:ln w="12700">
            <a:miter lim="400000"/>
          </a:ln>
        </p:spPr>
        <p:txBody>
          <a:bodyPr lIns="45719" rIns="45719"/>
          <a:lstStyle/>
          <a:p>
            <a:endParaRPr/>
          </a:p>
        </p:txBody>
      </p:sp>
      <p:sp>
        <p:nvSpPr>
          <p:cNvPr id="328" name="Text 20"/>
          <p:cNvSpPr txBox="1"/>
          <p:nvPr/>
        </p:nvSpPr>
        <p:spPr>
          <a:xfrm>
            <a:off x="6344106" y="5345379"/>
            <a:ext cx="991211"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a:solidFill>
                  <a:srgbClr val="111827"/>
                </a:solidFill>
                <a:latin typeface="Noto Serif KR"/>
                <a:ea typeface="Noto Serif KR"/>
                <a:cs typeface="Noto Serif KR"/>
                <a:sym typeface="Noto Serif KR"/>
              </a:defRPr>
            </a:lvl1pPr>
          </a:lstStyle>
          <a:p>
            <a:r>
              <a:t>Blue Frame</a:t>
            </a:r>
          </a:p>
        </p:txBody>
      </p:sp>
      <p:sp>
        <p:nvSpPr>
          <p:cNvPr id="329" name="Text 21"/>
          <p:cNvSpPr txBox="1"/>
          <p:nvPr/>
        </p:nvSpPr>
        <p:spPr>
          <a:xfrm>
            <a:off x="6344106" y="5578550"/>
            <a:ext cx="1390803"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a:solidFill>
                  <a:srgbClr val="6B7280"/>
                </a:solidFill>
                <a:latin typeface="Noto Sans KR"/>
                <a:ea typeface="Noto Sans KR"/>
                <a:cs typeface="Noto Sans KR"/>
                <a:sym typeface="Noto Sans KR"/>
              </a:defRPr>
            </a:lvl1pPr>
          </a:lstStyle>
          <a:p>
            <a:r>
              <a:t>Mixed Media, 2024</a:t>
            </a:r>
          </a:p>
        </p:txBody>
      </p:sp>
      <p:sp>
        <p:nvSpPr>
          <p:cNvPr id="330" name="Shape 22"/>
          <p:cNvSpPr/>
          <p:nvPr/>
        </p:nvSpPr>
        <p:spPr>
          <a:xfrm>
            <a:off x="9068104" y="1623974"/>
            <a:ext cx="2514601" cy="3590850"/>
          </a:xfrm>
          <a:prstGeom prst="roundRect">
            <a:avLst>
              <a:gd name="adj" fmla="val 275"/>
            </a:avLst>
          </a:prstGeom>
          <a:solidFill>
            <a:srgbClr val="F9FAFB"/>
          </a:solidFill>
          <a:ln w="12700">
            <a:miter lim="400000"/>
          </a:ln>
        </p:spPr>
        <p:txBody>
          <a:bodyPr lIns="45719" rIns="45719"/>
          <a:lstStyle/>
          <a:p>
            <a:endParaRPr/>
          </a:p>
        </p:txBody>
      </p:sp>
      <p:pic>
        <p:nvPicPr>
          <p:cNvPr id="331" name="Image 3" descr="Image 3"/>
          <p:cNvPicPr>
            <a:picLocks noChangeAspect="1"/>
          </p:cNvPicPr>
          <p:nvPr/>
        </p:nvPicPr>
        <p:blipFill>
          <a:blip r:embed="rId5"/>
          <a:srcRect l="17" r="17"/>
          <a:stretch>
            <a:fillRect/>
          </a:stretch>
        </p:blipFill>
        <p:spPr>
          <a:xfrm>
            <a:off x="9219895" y="2065629"/>
            <a:ext cx="2210106" cy="2704796"/>
          </a:xfrm>
          <a:prstGeom prst="rect">
            <a:avLst/>
          </a:prstGeom>
          <a:ln w="12700">
            <a:miter lim="400000"/>
          </a:ln>
        </p:spPr>
      </p:pic>
      <p:sp>
        <p:nvSpPr>
          <p:cNvPr id="332" name="Text 23"/>
          <p:cNvSpPr txBox="1"/>
          <p:nvPr/>
        </p:nvSpPr>
        <p:spPr>
          <a:xfrm>
            <a:off x="11130991" y="4759400"/>
            <a:ext cx="557785"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200" b="1">
                <a:solidFill>
                  <a:srgbClr val="E5E7EB">
                    <a:alpha val="50000"/>
                  </a:srgbClr>
                </a:solidFill>
                <a:latin typeface="Noto Serif KR"/>
                <a:ea typeface="Noto Serif KR"/>
                <a:cs typeface="Noto Serif KR"/>
                <a:sym typeface="Noto Serif KR"/>
              </a:defRPr>
            </a:lvl1pPr>
          </a:lstStyle>
          <a:p>
            <a:r>
              <a:t>07</a:t>
            </a:r>
          </a:p>
        </p:txBody>
      </p:sp>
      <p:sp>
        <p:nvSpPr>
          <p:cNvPr id="333" name="Shape 24"/>
          <p:cNvSpPr/>
          <p:nvPr/>
        </p:nvSpPr>
        <p:spPr>
          <a:xfrm>
            <a:off x="9068104" y="5362955"/>
            <a:ext cx="19203" cy="418795"/>
          </a:xfrm>
          <a:prstGeom prst="rect">
            <a:avLst/>
          </a:prstGeom>
          <a:solidFill>
            <a:srgbClr val="FEE2E2"/>
          </a:solidFill>
          <a:ln w="12700">
            <a:miter lim="400000"/>
          </a:ln>
        </p:spPr>
        <p:txBody>
          <a:bodyPr lIns="45719" rIns="45719"/>
          <a:lstStyle/>
          <a:p>
            <a:endParaRPr/>
          </a:p>
        </p:txBody>
      </p:sp>
      <p:sp>
        <p:nvSpPr>
          <p:cNvPr id="334" name="Text 25"/>
          <p:cNvSpPr txBox="1"/>
          <p:nvPr/>
        </p:nvSpPr>
        <p:spPr>
          <a:xfrm>
            <a:off x="9163201" y="5345379"/>
            <a:ext cx="943662"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a:solidFill>
                  <a:srgbClr val="111827"/>
                </a:solidFill>
                <a:latin typeface="Noto Serif KR"/>
                <a:ea typeface="Noto Serif KR"/>
                <a:cs typeface="Noto Serif KR"/>
                <a:sym typeface="Noto Serif KR"/>
              </a:defRPr>
            </a:lvl1pPr>
          </a:lstStyle>
          <a:p>
            <a:r>
              <a:t>Red Frame</a:t>
            </a:r>
          </a:p>
        </p:txBody>
      </p:sp>
      <p:sp>
        <p:nvSpPr>
          <p:cNvPr id="335" name="Text 26"/>
          <p:cNvSpPr txBox="1"/>
          <p:nvPr/>
        </p:nvSpPr>
        <p:spPr>
          <a:xfrm>
            <a:off x="9163201" y="5578550"/>
            <a:ext cx="1390803"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a:solidFill>
                  <a:srgbClr val="6B7280"/>
                </a:solidFill>
                <a:latin typeface="Noto Sans KR"/>
                <a:ea typeface="Noto Sans KR"/>
                <a:cs typeface="Noto Sans KR"/>
                <a:sym typeface="Noto Sans KR"/>
              </a:defRPr>
            </a:lvl1pPr>
          </a:lstStyle>
          <a:p>
            <a:r>
              <a:t>Mixed Media, 2024</a:t>
            </a:r>
          </a:p>
        </p:txBody>
      </p:sp>
      <p:sp>
        <p:nvSpPr>
          <p:cNvPr id="336" name="Shape 27"/>
          <p:cNvSpPr/>
          <p:nvPr/>
        </p:nvSpPr>
        <p:spPr>
          <a:xfrm>
            <a:off x="533095" y="6008572"/>
            <a:ext cx="11125505" cy="12701"/>
          </a:xfrm>
          <a:prstGeom prst="rect">
            <a:avLst/>
          </a:prstGeom>
          <a:solidFill>
            <a:srgbClr val="F3F4F6"/>
          </a:solidFill>
          <a:ln w="12700">
            <a:miter lim="400000"/>
          </a:ln>
        </p:spPr>
        <p:txBody>
          <a:bodyPr lIns="45719" rIns="45719"/>
          <a:lstStyle/>
          <a:p>
            <a:endParaRPr/>
          </a:p>
        </p:txBody>
      </p:sp>
      <p:sp>
        <p:nvSpPr>
          <p:cNvPr id="337" name="Text 28"/>
          <p:cNvSpPr txBox="1"/>
          <p:nvPr/>
        </p:nvSpPr>
        <p:spPr>
          <a:xfrm>
            <a:off x="533094" y="6174587"/>
            <a:ext cx="762611"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SON MUNIL</a:t>
            </a:r>
          </a:p>
        </p:txBody>
      </p:sp>
      <p:sp>
        <p:nvSpPr>
          <p:cNvPr id="338" name="Text 29"/>
          <p:cNvSpPr txBox="1"/>
          <p:nvPr/>
        </p:nvSpPr>
        <p:spPr>
          <a:xfrm>
            <a:off x="1510588" y="6174587"/>
            <a:ext cx="1133857"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SOLO EXHIBITION</a:t>
            </a:r>
          </a:p>
        </p:txBody>
      </p:sp>
      <p:pic>
        <p:nvPicPr>
          <p:cNvPr id="339" name="Image 4" descr="Image 4"/>
          <p:cNvPicPr>
            <a:picLocks noChangeAspect="1"/>
          </p:cNvPicPr>
          <p:nvPr/>
        </p:nvPicPr>
        <p:blipFill>
          <a:blip r:embed="rId6"/>
          <a:stretch>
            <a:fillRect/>
          </a:stretch>
        </p:blipFill>
        <p:spPr>
          <a:xfrm>
            <a:off x="9772021" y="6207862"/>
            <a:ext cx="100014" cy="114301"/>
          </a:xfrm>
          <a:prstGeom prst="rect">
            <a:avLst/>
          </a:prstGeom>
          <a:ln w="12700">
            <a:miter lim="400000"/>
          </a:ln>
        </p:spPr>
      </p:pic>
      <p:sp>
        <p:nvSpPr>
          <p:cNvPr id="340" name="Text 30"/>
          <p:cNvSpPr txBox="1"/>
          <p:nvPr/>
        </p:nvSpPr>
        <p:spPr>
          <a:xfrm>
            <a:off x="9950501" y="6104737"/>
            <a:ext cx="1800455"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D1D5DB"/>
                </a:solidFill>
                <a:latin typeface="Noto Sans KR"/>
                <a:ea typeface="Noto Sans KR"/>
                <a:cs typeface="Noto Sans KR"/>
                <a:sym typeface="Noto Sans KR"/>
              </a:defRPr>
            </a:lvl1pPr>
          </a:lstStyle>
          <a:p>
            <a:r>
              <a:t>WHERE LIGHT SEEPS THROUGH</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 name="Shape 0"/>
          <p:cNvSpPr/>
          <p:nvPr/>
        </p:nvSpPr>
        <p:spPr>
          <a:xfrm>
            <a:off x="-1" y="0"/>
            <a:ext cx="12191697" cy="6858000"/>
          </a:xfrm>
          <a:prstGeom prst="rect">
            <a:avLst/>
          </a:prstGeom>
          <a:solidFill>
            <a:srgbClr val="F3F4F6"/>
          </a:solidFill>
          <a:ln w="12700">
            <a:miter lim="400000"/>
          </a:ln>
        </p:spPr>
        <p:txBody>
          <a:bodyPr lIns="45719" rIns="45719"/>
          <a:lstStyle/>
          <a:p>
            <a:endParaRPr/>
          </a:p>
        </p:txBody>
      </p:sp>
      <p:sp>
        <p:nvSpPr>
          <p:cNvPr id="343" name="Shape 1"/>
          <p:cNvSpPr/>
          <p:nvPr/>
        </p:nvSpPr>
        <p:spPr>
          <a:xfrm>
            <a:off x="-1" y="0"/>
            <a:ext cx="12191697" cy="6858000"/>
          </a:xfrm>
          <a:prstGeom prst="rect">
            <a:avLst/>
          </a:prstGeom>
          <a:solidFill>
            <a:srgbClr val="FFFFFF"/>
          </a:solidFill>
          <a:ln w="12700">
            <a:miter lim="400000"/>
          </a:ln>
        </p:spPr>
        <p:txBody>
          <a:bodyPr lIns="45719" rIns="45719"/>
          <a:lstStyle/>
          <a:p>
            <a:endParaRPr/>
          </a:p>
        </p:txBody>
      </p:sp>
      <p:sp>
        <p:nvSpPr>
          <p:cNvPr id="344" name="Shape 2"/>
          <p:cNvSpPr/>
          <p:nvPr/>
        </p:nvSpPr>
        <p:spPr>
          <a:xfrm>
            <a:off x="609905" y="1799589"/>
            <a:ext cx="10972801" cy="12701"/>
          </a:xfrm>
          <a:prstGeom prst="rect">
            <a:avLst/>
          </a:prstGeom>
          <a:solidFill>
            <a:srgbClr val="F3F4F6"/>
          </a:solidFill>
          <a:ln w="12700">
            <a:miter lim="400000"/>
          </a:ln>
        </p:spPr>
        <p:txBody>
          <a:bodyPr lIns="45719" rIns="45719"/>
          <a:lstStyle/>
          <a:p>
            <a:endParaRPr/>
          </a:p>
        </p:txBody>
      </p:sp>
      <p:sp>
        <p:nvSpPr>
          <p:cNvPr id="345" name="Shape 3"/>
          <p:cNvSpPr/>
          <p:nvPr/>
        </p:nvSpPr>
        <p:spPr>
          <a:xfrm>
            <a:off x="609905" y="679450"/>
            <a:ext cx="228601" cy="12700"/>
          </a:xfrm>
          <a:prstGeom prst="rect">
            <a:avLst/>
          </a:prstGeom>
          <a:solidFill>
            <a:srgbClr val="F59E0B"/>
          </a:solidFill>
          <a:ln w="12700">
            <a:miter lim="400000"/>
          </a:ln>
        </p:spPr>
        <p:txBody>
          <a:bodyPr lIns="45719" rIns="45719"/>
          <a:lstStyle/>
          <a:p>
            <a:endParaRPr/>
          </a:p>
        </p:txBody>
      </p:sp>
      <p:sp>
        <p:nvSpPr>
          <p:cNvPr id="346" name="Text 4"/>
          <p:cNvSpPr txBox="1"/>
          <p:nvPr/>
        </p:nvSpPr>
        <p:spPr>
          <a:xfrm>
            <a:off x="952805" y="611377"/>
            <a:ext cx="1276503"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b="1">
                <a:solidFill>
                  <a:srgbClr val="D97706"/>
                </a:solidFill>
                <a:latin typeface="Noto Sans KR"/>
                <a:ea typeface="Noto Sans KR"/>
                <a:cs typeface="Noto Sans KR"/>
                <a:sym typeface="Noto Sans KR"/>
              </a:defRPr>
            </a:lvl1pPr>
          </a:lstStyle>
          <a:p>
            <a:r>
              <a:t>FEATURED SERIES 05</a:t>
            </a:r>
          </a:p>
        </p:txBody>
      </p:sp>
      <p:sp>
        <p:nvSpPr>
          <p:cNvPr id="347" name="Text 5"/>
          <p:cNvSpPr txBox="1"/>
          <p:nvPr/>
        </p:nvSpPr>
        <p:spPr>
          <a:xfrm>
            <a:off x="609905" y="849274"/>
            <a:ext cx="2477111" cy="406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2700" b="1">
                <a:solidFill>
                  <a:srgbClr val="111827"/>
                </a:solidFill>
                <a:latin typeface="Noto Serif KR"/>
                <a:ea typeface="Noto Serif KR"/>
                <a:cs typeface="Noto Serif KR"/>
                <a:sym typeface="Noto Serif KR"/>
              </a:defRPr>
            </a:lvl1pPr>
          </a:lstStyle>
          <a:p>
            <a:r>
              <a:t>Relationship</a:t>
            </a:r>
          </a:p>
        </p:txBody>
      </p:sp>
      <p:sp>
        <p:nvSpPr>
          <p:cNvPr id="348" name="Text 6"/>
          <p:cNvSpPr txBox="1"/>
          <p:nvPr/>
        </p:nvSpPr>
        <p:spPr>
          <a:xfrm>
            <a:off x="609905" y="1337208"/>
            <a:ext cx="1729129"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300">
                <a:solidFill>
                  <a:srgbClr val="6B7280"/>
                </a:solidFill>
                <a:latin typeface="Noto Sans KR"/>
                <a:ea typeface="Noto Sans KR"/>
                <a:cs typeface="Noto Sans KR"/>
                <a:sym typeface="Noto Sans KR"/>
              </a:defRPr>
            </a:lvl1pPr>
          </a:lstStyle>
          <a:p>
            <a:r>
              <a:t>GROWTH AND WEAR</a:t>
            </a:r>
          </a:p>
        </p:txBody>
      </p:sp>
      <p:sp>
        <p:nvSpPr>
          <p:cNvPr id="349" name="Text 7"/>
          <p:cNvSpPr txBox="1"/>
          <p:nvPr/>
        </p:nvSpPr>
        <p:spPr>
          <a:xfrm>
            <a:off x="8592617" y="945767"/>
            <a:ext cx="3091587" cy="161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4B5563"/>
                </a:solidFill>
                <a:latin typeface="Noto Sans KR"/>
                <a:ea typeface="Noto Sans KR"/>
                <a:cs typeface="Noto Sans KR"/>
                <a:sym typeface="Noto Sans KR"/>
              </a:defRPr>
            </a:lvl1pPr>
          </a:lstStyle>
          <a:p>
            <a:r>
              <a:t>뒤엉킨 선과 가지, 관계의 생장과 마모를 표현했습니다.</a:t>
            </a:r>
          </a:p>
        </p:txBody>
      </p:sp>
      <p:sp>
        <p:nvSpPr>
          <p:cNvPr id="350" name="Text 8"/>
          <p:cNvSpPr txBox="1"/>
          <p:nvPr/>
        </p:nvSpPr>
        <p:spPr>
          <a:xfrm>
            <a:off x="6178601" y="1271751"/>
            <a:ext cx="5511090" cy="1612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1000">
                <a:solidFill>
                  <a:srgbClr val="4B5563"/>
                </a:solidFill>
                <a:latin typeface="Noto Sans KR"/>
                <a:ea typeface="Noto Sans KR"/>
                <a:cs typeface="Noto Sans KR"/>
                <a:sym typeface="Noto Sans KR"/>
              </a:defRPr>
            </a:lvl1pPr>
          </a:lstStyle>
          <a:p>
            <a:r>
              <a:t>무심한 발걸음과 필사적으로 뻗어나가는 가지들의 대비는 단절과 연결의 이중적인 속성을 보여줍니다.</a:t>
            </a:r>
          </a:p>
        </p:txBody>
      </p:sp>
      <p:sp>
        <p:nvSpPr>
          <p:cNvPr id="351" name="Text 10"/>
          <p:cNvSpPr txBox="1"/>
          <p:nvPr/>
        </p:nvSpPr>
        <p:spPr>
          <a:xfrm>
            <a:off x="1645803" y="5930441"/>
            <a:ext cx="1538936"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300">
                <a:solidFill>
                  <a:srgbClr val="111827"/>
                </a:solidFill>
                <a:latin typeface="Noto Serif KR"/>
                <a:ea typeface="Noto Serif KR"/>
                <a:cs typeface="Noto Serif KR"/>
                <a:sym typeface="Noto Serif KR"/>
              </a:defRPr>
            </a:lvl1pPr>
          </a:lstStyle>
          <a:p>
            <a:r>
              <a:t>Relationship #01</a:t>
            </a:r>
          </a:p>
        </p:txBody>
      </p:sp>
      <p:sp>
        <p:nvSpPr>
          <p:cNvPr id="352" name="Text 11"/>
          <p:cNvSpPr txBox="1"/>
          <p:nvPr/>
        </p:nvSpPr>
        <p:spPr>
          <a:xfrm>
            <a:off x="1735415" y="6205879"/>
            <a:ext cx="1314908"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900">
                <a:solidFill>
                  <a:srgbClr val="6B7280"/>
                </a:solidFill>
                <a:latin typeface="Noto Sans KR"/>
                <a:ea typeface="Noto Sans KR"/>
                <a:cs typeface="Noto Sans KR"/>
                <a:sym typeface="Noto Sans KR"/>
              </a:defRPr>
            </a:lvl1pPr>
          </a:lstStyle>
          <a:p>
            <a:r>
              <a:t>MIXED MEDIA, 2024</a:t>
            </a:r>
          </a:p>
        </p:txBody>
      </p:sp>
      <p:sp>
        <p:nvSpPr>
          <p:cNvPr id="353" name="Shape 12"/>
          <p:cNvSpPr/>
          <p:nvPr/>
        </p:nvSpPr>
        <p:spPr>
          <a:xfrm>
            <a:off x="2158898" y="7193636"/>
            <a:ext cx="304496" cy="12701"/>
          </a:xfrm>
          <a:prstGeom prst="rect">
            <a:avLst/>
          </a:prstGeom>
          <a:solidFill>
            <a:srgbClr val="D1D5DB"/>
          </a:solidFill>
          <a:ln w="12700">
            <a:miter lim="400000"/>
          </a:ln>
        </p:spPr>
        <p:txBody>
          <a:bodyPr lIns="45719" rIns="45719"/>
          <a:lstStyle/>
          <a:p>
            <a:endParaRPr/>
          </a:p>
        </p:txBody>
      </p:sp>
      <p:sp>
        <p:nvSpPr>
          <p:cNvPr id="354" name="Text 14"/>
          <p:cNvSpPr txBox="1"/>
          <p:nvPr/>
        </p:nvSpPr>
        <p:spPr>
          <a:xfrm>
            <a:off x="4734154" y="5824929"/>
            <a:ext cx="1558139"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300">
                <a:solidFill>
                  <a:srgbClr val="111827"/>
                </a:solidFill>
                <a:latin typeface="Noto Serif KR"/>
                <a:ea typeface="Noto Serif KR"/>
                <a:cs typeface="Noto Serif KR"/>
                <a:sym typeface="Noto Serif KR"/>
              </a:defRPr>
            </a:lvl1pPr>
          </a:lstStyle>
          <a:p>
            <a:r>
              <a:t>Relationship #02</a:t>
            </a:r>
          </a:p>
        </p:txBody>
      </p:sp>
      <p:sp>
        <p:nvSpPr>
          <p:cNvPr id="355" name="Text 15"/>
          <p:cNvSpPr txBox="1"/>
          <p:nvPr/>
        </p:nvSpPr>
        <p:spPr>
          <a:xfrm>
            <a:off x="4831995" y="6099452"/>
            <a:ext cx="1314908"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900">
                <a:solidFill>
                  <a:srgbClr val="6B7280"/>
                </a:solidFill>
                <a:latin typeface="Noto Sans KR"/>
                <a:ea typeface="Noto Sans KR"/>
                <a:cs typeface="Noto Sans KR"/>
                <a:sym typeface="Noto Sans KR"/>
              </a:defRPr>
            </a:lvl1pPr>
          </a:lstStyle>
          <a:p>
            <a:r>
              <a:t>MIXED MEDIA, 2024</a:t>
            </a:r>
          </a:p>
        </p:txBody>
      </p:sp>
      <p:sp>
        <p:nvSpPr>
          <p:cNvPr id="356" name="Shape 16"/>
          <p:cNvSpPr/>
          <p:nvPr/>
        </p:nvSpPr>
        <p:spPr>
          <a:xfrm>
            <a:off x="5943600" y="7209180"/>
            <a:ext cx="304496" cy="12701"/>
          </a:xfrm>
          <a:prstGeom prst="rect">
            <a:avLst/>
          </a:prstGeom>
          <a:solidFill>
            <a:srgbClr val="D1D5DB"/>
          </a:solidFill>
          <a:ln w="12700">
            <a:miter lim="400000"/>
          </a:ln>
        </p:spPr>
        <p:txBody>
          <a:bodyPr lIns="45719" rIns="45719"/>
          <a:lstStyle/>
          <a:p>
            <a:endParaRPr/>
          </a:p>
        </p:txBody>
      </p:sp>
      <p:sp>
        <p:nvSpPr>
          <p:cNvPr id="357" name="Shape 20"/>
          <p:cNvSpPr/>
          <p:nvPr/>
        </p:nvSpPr>
        <p:spPr>
          <a:xfrm>
            <a:off x="9728302" y="7189063"/>
            <a:ext cx="304496" cy="12701"/>
          </a:xfrm>
          <a:prstGeom prst="rect">
            <a:avLst/>
          </a:prstGeom>
          <a:solidFill>
            <a:srgbClr val="D1D5DB"/>
          </a:solidFill>
          <a:ln w="12700">
            <a:miter lim="400000"/>
          </a:ln>
        </p:spPr>
        <p:txBody>
          <a:bodyPr lIns="45719" rIns="45719"/>
          <a:lstStyle/>
          <a:p>
            <a:endParaRPr/>
          </a:p>
        </p:txBody>
      </p:sp>
      <p:sp>
        <p:nvSpPr>
          <p:cNvPr id="358" name="Shape 21"/>
          <p:cNvSpPr/>
          <p:nvPr/>
        </p:nvSpPr>
        <p:spPr>
          <a:xfrm>
            <a:off x="609905" y="7218323"/>
            <a:ext cx="10972801" cy="12701"/>
          </a:xfrm>
          <a:prstGeom prst="rect">
            <a:avLst/>
          </a:prstGeom>
          <a:solidFill>
            <a:srgbClr val="F3F4F6"/>
          </a:solidFill>
          <a:ln w="12700">
            <a:miter lim="400000"/>
          </a:ln>
        </p:spPr>
        <p:txBody>
          <a:bodyPr lIns="45719" rIns="45719"/>
          <a:lstStyle/>
          <a:p>
            <a:endParaRPr/>
          </a:p>
        </p:txBody>
      </p:sp>
      <p:sp>
        <p:nvSpPr>
          <p:cNvPr id="359" name="Text 22"/>
          <p:cNvSpPr txBox="1"/>
          <p:nvPr/>
        </p:nvSpPr>
        <p:spPr>
          <a:xfrm>
            <a:off x="597205" y="6609639"/>
            <a:ext cx="1838858"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SON MUNIL SOLO EXHIBITION</a:t>
            </a:r>
          </a:p>
        </p:txBody>
      </p:sp>
      <p:sp>
        <p:nvSpPr>
          <p:cNvPr id="360" name="Text 23"/>
          <p:cNvSpPr txBox="1"/>
          <p:nvPr/>
        </p:nvSpPr>
        <p:spPr>
          <a:xfrm>
            <a:off x="9854489" y="6635039"/>
            <a:ext cx="1353313"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GWANHOON GALLERY</a:t>
            </a:r>
          </a:p>
        </p:txBody>
      </p:sp>
      <p:sp>
        <p:nvSpPr>
          <p:cNvPr id="361" name="Shape 24"/>
          <p:cNvSpPr/>
          <p:nvPr/>
        </p:nvSpPr>
        <p:spPr>
          <a:xfrm>
            <a:off x="11191341" y="7439558"/>
            <a:ext cx="38406" cy="38406"/>
          </a:xfrm>
          <a:prstGeom prst="roundRect">
            <a:avLst>
              <a:gd name="adj" fmla="val 50000"/>
            </a:avLst>
          </a:prstGeom>
          <a:solidFill>
            <a:srgbClr val="D1D5DB"/>
          </a:solidFill>
          <a:ln w="12700">
            <a:miter lim="400000"/>
          </a:ln>
        </p:spPr>
        <p:txBody>
          <a:bodyPr lIns="45719" rIns="45719"/>
          <a:lstStyle/>
          <a:p>
            <a:endParaRPr/>
          </a:p>
        </p:txBody>
      </p:sp>
      <p:sp>
        <p:nvSpPr>
          <p:cNvPr id="362" name="Text 25"/>
          <p:cNvSpPr txBox="1"/>
          <p:nvPr/>
        </p:nvSpPr>
        <p:spPr>
          <a:xfrm>
            <a:off x="11305641" y="6635039"/>
            <a:ext cx="372162"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900">
                <a:solidFill>
                  <a:srgbClr val="9CA3AF"/>
                </a:solidFill>
                <a:latin typeface="Noto Sans KR"/>
                <a:ea typeface="Noto Sans KR"/>
                <a:cs typeface="Noto Sans KR"/>
                <a:sym typeface="Noto Sans KR"/>
              </a:defRPr>
            </a:lvl1pPr>
          </a:lstStyle>
          <a:p>
            <a:r>
              <a:t>2025</a:t>
            </a:r>
          </a:p>
        </p:txBody>
      </p:sp>
      <p:pic>
        <p:nvPicPr>
          <p:cNvPr id="363" name="Image 0" descr="Image 0"/>
          <p:cNvPicPr>
            <a:picLocks noChangeAspect="1"/>
          </p:cNvPicPr>
          <p:nvPr/>
        </p:nvPicPr>
        <p:blipFill>
          <a:blip r:embed="rId2"/>
          <a:srcRect t="28" b="27"/>
          <a:stretch>
            <a:fillRect/>
          </a:stretch>
        </p:blipFill>
        <p:spPr>
          <a:xfrm>
            <a:off x="1182061" y="1914970"/>
            <a:ext cx="2018568" cy="3912599"/>
          </a:xfrm>
          <a:prstGeom prst="rect">
            <a:avLst/>
          </a:prstGeom>
          <a:ln w="12700">
            <a:miter lim="400000"/>
          </a:ln>
        </p:spPr>
      </p:pic>
      <p:pic>
        <p:nvPicPr>
          <p:cNvPr id="364" name="Image 1" descr="Image 1"/>
          <p:cNvPicPr>
            <a:picLocks noChangeAspect="1"/>
          </p:cNvPicPr>
          <p:nvPr/>
        </p:nvPicPr>
        <p:blipFill>
          <a:blip r:embed="rId3"/>
          <a:srcRect t="107" b="107"/>
          <a:stretch>
            <a:fillRect/>
          </a:stretch>
        </p:blipFill>
        <p:spPr>
          <a:xfrm>
            <a:off x="4335384" y="1920494"/>
            <a:ext cx="2101288" cy="3786829"/>
          </a:xfrm>
          <a:prstGeom prst="rect">
            <a:avLst/>
          </a:prstGeom>
          <a:ln w="12700">
            <a:miter lim="400000"/>
          </a:ln>
        </p:spPr>
      </p:pic>
      <p:sp>
        <p:nvSpPr>
          <p:cNvPr id="365" name="Text 4"/>
          <p:cNvSpPr txBox="1"/>
          <p:nvPr/>
        </p:nvSpPr>
        <p:spPr>
          <a:xfrm>
            <a:off x="7171056" y="2071471"/>
            <a:ext cx="3917554" cy="7160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just">
              <a:lnSpc>
                <a:spcPts val="1900"/>
              </a:lnSpc>
              <a:defRPr sz="1000">
                <a:solidFill>
                  <a:srgbClr val="212121"/>
                </a:solidFill>
                <a:latin typeface="Georgia"/>
                <a:ea typeface="Georgia"/>
                <a:cs typeface="Georgia"/>
                <a:sym typeface="Georgia"/>
              </a:defRPr>
            </a:lvl1pPr>
          </a:lstStyle>
          <a:p>
            <a:r>
              <a:t>머리와 팔다리가 생략된 채 정장만 남은 인체 조각. 벽면에 부착된 형태는 마치 옷걸이에 걸린 껍데기 같다. 정체성의 핵심인 얼굴과 행위의 주체인 손이 사라진 자리에 남은 것은 사회적 코드로서의 복장뿐이다.</a:t>
            </a:r>
          </a:p>
        </p:txBody>
      </p:sp>
      <p:sp>
        <p:nvSpPr>
          <p:cNvPr id="366" name="Text 5"/>
          <p:cNvSpPr txBox="1"/>
          <p:nvPr/>
        </p:nvSpPr>
        <p:spPr>
          <a:xfrm>
            <a:off x="7171056" y="3159758"/>
            <a:ext cx="3917554" cy="7160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just">
              <a:lnSpc>
                <a:spcPts val="1900"/>
              </a:lnSpc>
              <a:defRPr sz="1000">
                <a:solidFill>
                  <a:srgbClr val="212121"/>
                </a:solidFill>
                <a:latin typeface="Georgia"/>
                <a:ea typeface="Georgia"/>
                <a:cs typeface="Georgia"/>
                <a:sym typeface="Georgia"/>
              </a:defRPr>
            </a:lvl1pPr>
          </a:lstStyle>
          <a:p>
            <a:r>
              <a:t>관계란 결국 우리가 입는 외피를 통해 맺어지는 것인가? 작가는 질문을 던지되 답을 강요하지 않는다. 두 개의 정장이 나란히 놓인 구성은 관계의 형식을 보여주지만, 그 안의 내용—진정한 연결—은 비어 있다.</a:t>
            </a:r>
          </a:p>
        </p:txBody>
      </p:sp>
      <p:sp>
        <p:nvSpPr>
          <p:cNvPr id="367" name="Text 6"/>
          <p:cNvSpPr txBox="1"/>
          <p:nvPr/>
        </p:nvSpPr>
        <p:spPr>
          <a:xfrm>
            <a:off x="7171056" y="4236999"/>
            <a:ext cx="3917554" cy="7160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just">
              <a:lnSpc>
                <a:spcPts val="1900"/>
              </a:lnSpc>
              <a:defRPr sz="1000">
                <a:solidFill>
                  <a:srgbClr val="212121"/>
                </a:solidFill>
                <a:latin typeface="Georgia"/>
                <a:ea typeface="Georgia"/>
                <a:cs typeface="Georgia"/>
                <a:sym typeface="Georgia"/>
              </a:defRPr>
            </a:lvl1pPr>
          </a:lstStyle>
          <a:p>
            <a:r>
              <a:t>알루미늄 패널 위 천의 질감은 일상의 친숙함을, 세로로 긴 화면 비율은 인체의 수직성을 강조한다. 부재를 통해 존재를 이야기하는, 비움으로써 채우는 작업이다.</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Shape 0"/>
          <p:cNvSpPr/>
          <p:nvPr/>
        </p:nvSpPr>
        <p:spPr>
          <a:xfrm>
            <a:off x="-1" y="0"/>
            <a:ext cx="12191697" cy="6858000"/>
          </a:xfrm>
          <a:prstGeom prst="rect">
            <a:avLst/>
          </a:prstGeom>
          <a:solidFill>
            <a:srgbClr val="F9FAFB"/>
          </a:solidFill>
          <a:ln w="12700">
            <a:miter lim="400000"/>
          </a:ln>
        </p:spPr>
        <p:txBody>
          <a:bodyPr lIns="45719" rIns="45719"/>
          <a:lstStyle/>
          <a:p>
            <a:endParaRPr/>
          </a:p>
        </p:txBody>
      </p:sp>
      <p:sp>
        <p:nvSpPr>
          <p:cNvPr id="370" name="Shape 1"/>
          <p:cNvSpPr/>
          <p:nvPr/>
        </p:nvSpPr>
        <p:spPr>
          <a:xfrm>
            <a:off x="-1" y="0"/>
            <a:ext cx="12191697" cy="6858000"/>
          </a:xfrm>
          <a:prstGeom prst="rect">
            <a:avLst/>
          </a:prstGeom>
          <a:solidFill>
            <a:srgbClr val="FFFFFF"/>
          </a:solidFill>
          <a:ln w="12700">
            <a:miter lim="400000"/>
          </a:ln>
        </p:spPr>
        <p:txBody>
          <a:bodyPr lIns="45719" rIns="45719"/>
          <a:lstStyle/>
          <a:p>
            <a:endParaRPr/>
          </a:p>
        </p:txBody>
      </p:sp>
      <p:sp>
        <p:nvSpPr>
          <p:cNvPr id="371" name="Shape 2"/>
          <p:cNvSpPr/>
          <p:nvPr/>
        </p:nvSpPr>
        <p:spPr>
          <a:xfrm>
            <a:off x="304495" y="304495"/>
            <a:ext cx="11582705" cy="6248095"/>
          </a:xfrm>
          <a:prstGeom prst="rect">
            <a:avLst/>
          </a:prstGeom>
          <a:ln w="12700">
            <a:solidFill>
              <a:srgbClr val="E5E7EB"/>
            </a:solidFill>
          </a:ln>
        </p:spPr>
        <p:txBody>
          <a:bodyPr lIns="45719" rIns="45719"/>
          <a:lstStyle/>
          <a:p>
            <a:endParaRPr/>
          </a:p>
        </p:txBody>
      </p:sp>
      <p:sp>
        <p:nvSpPr>
          <p:cNvPr id="372" name="Shape 3"/>
          <p:cNvSpPr/>
          <p:nvPr/>
        </p:nvSpPr>
        <p:spPr>
          <a:xfrm>
            <a:off x="6089039" y="2414929"/>
            <a:ext cx="12701" cy="609906"/>
          </a:xfrm>
          <a:prstGeom prst="rect">
            <a:avLst/>
          </a:prstGeom>
          <a:solidFill>
            <a:srgbClr val="D1D5DB"/>
          </a:solidFill>
          <a:ln w="12700">
            <a:miter lim="400000"/>
          </a:ln>
        </p:spPr>
        <p:txBody>
          <a:bodyPr lIns="45719" rIns="45719"/>
          <a:lstStyle/>
          <a:p>
            <a:endParaRPr/>
          </a:p>
        </p:txBody>
      </p:sp>
      <p:sp>
        <p:nvSpPr>
          <p:cNvPr id="373" name="Text 4"/>
          <p:cNvSpPr txBox="1"/>
          <p:nvPr/>
        </p:nvSpPr>
        <p:spPr>
          <a:xfrm>
            <a:off x="5355640" y="461925"/>
            <a:ext cx="1586485" cy="152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000">
                <a:solidFill>
                  <a:srgbClr val="9CA3AF"/>
                </a:solidFill>
                <a:latin typeface="Noto Sans KR"/>
                <a:ea typeface="Noto Sans KR"/>
                <a:cs typeface="Noto Sans KR"/>
                <a:sym typeface="Noto Sans KR"/>
              </a:defRPr>
            </a:lvl1pPr>
          </a:lstStyle>
          <a:p>
            <a:r>
              <a:t>SOLO EXHIBITION 2025</a:t>
            </a:r>
          </a:p>
        </p:txBody>
      </p:sp>
      <p:sp>
        <p:nvSpPr>
          <p:cNvPr id="374" name="Text 6"/>
          <p:cNvSpPr txBox="1"/>
          <p:nvPr/>
        </p:nvSpPr>
        <p:spPr>
          <a:xfrm>
            <a:off x="3986784" y="792179"/>
            <a:ext cx="5275969" cy="6924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ctr">
            <a:spAutoFit/>
          </a:bodyPr>
          <a:lstStyle>
            <a:lvl1pPr algn="ctr">
              <a:defRPr sz="4500">
                <a:solidFill>
                  <a:srgbClr val="111827"/>
                </a:solidFill>
                <a:latin typeface="Noto Serif KR"/>
                <a:ea typeface="Noto Serif KR"/>
                <a:cs typeface="Noto Serif KR"/>
                <a:sym typeface="Noto Serif KR"/>
              </a:defRPr>
            </a:lvl1pPr>
          </a:lstStyle>
          <a:p>
            <a:r>
              <a:rPr dirty="0" err="1"/>
              <a:t>당신을</a:t>
            </a:r>
            <a:r>
              <a:rPr dirty="0"/>
              <a:t> </a:t>
            </a:r>
            <a:r>
              <a:rPr dirty="0" err="1"/>
              <a:t>위한</a:t>
            </a:r>
            <a:r>
              <a:rPr dirty="0"/>
              <a:t> </a:t>
            </a:r>
            <a:r>
              <a:rPr dirty="0" err="1"/>
              <a:t>나의</a:t>
            </a:r>
            <a:r>
              <a:rPr dirty="0"/>
              <a:t> </a:t>
            </a:r>
            <a:r>
              <a:rPr dirty="0" err="1"/>
              <a:t>틈</a:t>
            </a:r>
            <a:endParaRPr dirty="0"/>
          </a:p>
        </p:txBody>
      </p:sp>
      <p:sp>
        <p:nvSpPr>
          <p:cNvPr id="375" name="Text 7"/>
          <p:cNvSpPr txBox="1"/>
          <p:nvPr/>
        </p:nvSpPr>
        <p:spPr>
          <a:xfrm>
            <a:off x="3676760" y="1662530"/>
            <a:ext cx="4838481"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i="1">
                <a:solidFill>
                  <a:srgbClr val="6B7280"/>
                </a:solidFill>
                <a:latin typeface="Cormorant Garamond"/>
                <a:ea typeface="Cormorant Garamond"/>
                <a:cs typeface="Cormorant Garamond"/>
                <a:sym typeface="Cormorant Garamond"/>
              </a:defRPr>
            </a:lvl1pPr>
          </a:lstStyle>
          <a:p>
            <a:r>
              <a:t>A Gap for You</a:t>
            </a:r>
          </a:p>
        </p:txBody>
      </p:sp>
      <p:sp>
        <p:nvSpPr>
          <p:cNvPr id="376" name="Text 8"/>
          <p:cNvSpPr txBox="1"/>
          <p:nvPr/>
        </p:nvSpPr>
        <p:spPr>
          <a:xfrm>
            <a:off x="5593384" y="3478603"/>
            <a:ext cx="1224383" cy="3497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2200" b="1">
                <a:solidFill>
                  <a:srgbClr val="1F2937"/>
                </a:solidFill>
                <a:latin typeface="Noto Serif KR"/>
                <a:ea typeface="Noto Serif KR"/>
                <a:cs typeface="Noto Serif KR"/>
                <a:sym typeface="Noto Serif KR"/>
              </a:defRPr>
            </a:lvl1pPr>
          </a:lstStyle>
          <a:p>
            <a:r>
              <a:t>손 문 일</a:t>
            </a:r>
          </a:p>
        </p:txBody>
      </p:sp>
      <p:sp>
        <p:nvSpPr>
          <p:cNvPr id="377" name="Text 9"/>
          <p:cNvSpPr txBox="1"/>
          <p:nvPr/>
        </p:nvSpPr>
        <p:spPr>
          <a:xfrm>
            <a:off x="5743345" y="3920185"/>
            <a:ext cx="814731" cy="152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000">
                <a:solidFill>
                  <a:srgbClr val="9CA3AF"/>
                </a:solidFill>
                <a:latin typeface="Noto Sans KR"/>
                <a:ea typeface="Noto Sans KR"/>
                <a:cs typeface="Noto Sans KR"/>
                <a:sym typeface="Noto Sans KR"/>
              </a:defRPr>
            </a:lvl1pPr>
          </a:lstStyle>
          <a:p>
            <a:r>
              <a:t>SON MUNIL</a:t>
            </a:r>
          </a:p>
        </p:txBody>
      </p:sp>
      <p:sp>
        <p:nvSpPr>
          <p:cNvPr id="378" name="Text 10"/>
          <p:cNvSpPr txBox="1"/>
          <p:nvPr/>
        </p:nvSpPr>
        <p:spPr>
          <a:xfrm>
            <a:off x="4973422" y="4644949"/>
            <a:ext cx="1295706"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200">
                <a:solidFill>
                  <a:srgbClr val="374151"/>
                </a:solidFill>
                <a:latin typeface="Noto Serif KR"/>
                <a:ea typeface="Noto Serif KR"/>
                <a:cs typeface="Noto Serif KR"/>
                <a:sym typeface="Noto Serif KR"/>
              </a:defRPr>
            </a:lvl1pPr>
          </a:lstStyle>
          <a:p>
            <a:r>
              <a:t>2025. 1. 8 (Wed)</a:t>
            </a:r>
          </a:p>
        </p:txBody>
      </p:sp>
      <p:sp>
        <p:nvSpPr>
          <p:cNvPr id="379" name="Text 11"/>
          <p:cNvSpPr txBox="1"/>
          <p:nvPr/>
        </p:nvSpPr>
        <p:spPr>
          <a:xfrm>
            <a:off x="6267298" y="4644949"/>
            <a:ext cx="257862"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200">
                <a:solidFill>
                  <a:srgbClr val="D1D5DB"/>
                </a:solidFill>
                <a:latin typeface="Noto Serif KR"/>
                <a:ea typeface="Noto Serif KR"/>
                <a:cs typeface="Noto Serif KR"/>
                <a:sym typeface="Noto Serif KR"/>
              </a:defRPr>
            </a:lvl1pPr>
          </a:lstStyle>
          <a:p>
            <a:r>
              <a:t>—</a:t>
            </a:r>
          </a:p>
        </p:txBody>
      </p:sp>
      <p:sp>
        <p:nvSpPr>
          <p:cNvPr id="380" name="Text 12"/>
          <p:cNvSpPr txBox="1"/>
          <p:nvPr/>
        </p:nvSpPr>
        <p:spPr>
          <a:xfrm>
            <a:off x="6516929" y="4644949"/>
            <a:ext cx="819303"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200">
                <a:solidFill>
                  <a:srgbClr val="374151"/>
                </a:solidFill>
                <a:latin typeface="Noto Serif KR"/>
                <a:ea typeface="Noto Serif KR"/>
                <a:cs typeface="Noto Serif KR"/>
                <a:sym typeface="Noto Serif KR"/>
              </a:defRPr>
            </a:lvl1pPr>
          </a:lstStyle>
          <a:p>
            <a:r>
              <a:t>1. 31 (Fri)</a:t>
            </a:r>
          </a:p>
        </p:txBody>
      </p:sp>
      <p:sp>
        <p:nvSpPr>
          <p:cNvPr id="381" name="Text 13"/>
          <p:cNvSpPr txBox="1"/>
          <p:nvPr/>
        </p:nvSpPr>
        <p:spPr>
          <a:xfrm>
            <a:off x="5552237" y="5183794"/>
            <a:ext cx="1224383" cy="2147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300">
                <a:solidFill>
                  <a:srgbClr val="111827"/>
                </a:solidFill>
                <a:latin typeface="Noto Serif KR"/>
                <a:ea typeface="Noto Serif KR"/>
                <a:cs typeface="Noto Serif KR"/>
                <a:sym typeface="Noto Serif KR"/>
              </a:defRPr>
            </a:lvl1pPr>
          </a:lstStyle>
          <a:p>
            <a:r>
              <a:t>관훈갤러리 3F</a:t>
            </a:r>
          </a:p>
        </p:txBody>
      </p:sp>
      <p:sp>
        <p:nvSpPr>
          <p:cNvPr id="382" name="Text 14"/>
          <p:cNvSpPr txBox="1"/>
          <p:nvPr/>
        </p:nvSpPr>
        <p:spPr>
          <a:xfrm>
            <a:off x="4721962" y="5498501"/>
            <a:ext cx="2839213" cy="1477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900">
                <a:solidFill>
                  <a:srgbClr val="6B7280"/>
                </a:solidFill>
                <a:latin typeface="Noto Sans KR"/>
                <a:ea typeface="Noto Sans KR"/>
                <a:cs typeface="Noto Sans KR"/>
                <a:sym typeface="Noto Sans KR"/>
              </a:defRPr>
            </a:lvl1pPr>
          </a:lstStyle>
          <a:p>
            <a:r>
              <a:t>서울시 종로구 인사동길 11 (GWANHOON GALLERY)</a:t>
            </a:r>
          </a:p>
        </p:txBody>
      </p:sp>
      <p:pic>
        <p:nvPicPr>
          <p:cNvPr id="383" name="Image 0" descr="Image 0"/>
          <p:cNvPicPr>
            <a:picLocks noChangeAspect="1"/>
          </p:cNvPicPr>
          <p:nvPr/>
        </p:nvPicPr>
        <p:blipFill>
          <a:blip r:embed="rId2"/>
          <a:stretch>
            <a:fillRect/>
          </a:stretch>
        </p:blipFill>
        <p:spPr>
          <a:xfrm>
            <a:off x="3613708" y="6267298"/>
            <a:ext cx="114301" cy="114301"/>
          </a:xfrm>
          <a:prstGeom prst="rect">
            <a:avLst/>
          </a:prstGeom>
          <a:ln w="12700">
            <a:miter lim="400000"/>
          </a:ln>
        </p:spPr>
      </p:pic>
      <p:sp>
        <p:nvSpPr>
          <p:cNvPr id="384" name="Shape 15"/>
          <p:cNvSpPr/>
          <p:nvPr/>
        </p:nvSpPr>
        <p:spPr>
          <a:xfrm>
            <a:off x="5671108" y="6305701"/>
            <a:ext cx="38406" cy="38406"/>
          </a:xfrm>
          <a:prstGeom prst="roundRect">
            <a:avLst>
              <a:gd name="adj" fmla="val 50000"/>
            </a:avLst>
          </a:prstGeom>
          <a:solidFill>
            <a:srgbClr val="D1D5DB"/>
          </a:solidFill>
          <a:ln w="12700">
            <a:miter lim="400000"/>
          </a:ln>
        </p:spPr>
        <p:txBody>
          <a:bodyPr lIns="45719" rIns="45719"/>
          <a:lstStyle/>
          <a:p>
            <a:endParaRPr/>
          </a:p>
        </p:txBody>
      </p:sp>
      <p:pic>
        <p:nvPicPr>
          <p:cNvPr id="385" name="Image 1" descr="Image 1"/>
          <p:cNvPicPr>
            <a:picLocks noChangeAspect="1"/>
          </p:cNvPicPr>
          <p:nvPr/>
        </p:nvPicPr>
        <p:blipFill>
          <a:blip r:embed="rId3"/>
          <a:stretch>
            <a:fillRect/>
          </a:stretch>
        </p:blipFill>
        <p:spPr>
          <a:xfrm>
            <a:off x="6016580" y="6267298"/>
            <a:ext cx="100014" cy="114301"/>
          </a:xfrm>
          <a:prstGeom prst="rect">
            <a:avLst/>
          </a:prstGeom>
          <a:ln w="12700">
            <a:miter lim="400000"/>
          </a:ln>
        </p:spPr>
      </p:pic>
      <p:sp>
        <p:nvSpPr>
          <p:cNvPr id="386" name="Shape 16"/>
          <p:cNvSpPr/>
          <p:nvPr/>
        </p:nvSpPr>
        <p:spPr>
          <a:xfrm>
            <a:off x="7362749" y="6305701"/>
            <a:ext cx="38406" cy="38406"/>
          </a:xfrm>
          <a:prstGeom prst="roundRect">
            <a:avLst>
              <a:gd name="adj" fmla="val 50000"/>
            </a:avLst>
          </a:prstGeom>
          <a:solidFill>
            <a:srgbClr val="D1D5DB"/>
          </a:solidFill>
          <a:ln w="12700">
            <a:miter lim="400000"/>
          </a:ln>
        </p:spPr>
        <p:txBody>
          <a:bodyPr lIns="45719" rIns="45719"/>
          <a:lstStyle/>
          <a:p>
            <a:endParaRPr/>
          </a:p>
        </p:txBody>
      </p:sp>
      <p:pic>
        <p:nvPicPr>
          <p:cNvPr id="387" name="Image 2" descr="Image 2"/>
          <p:cNvPicPr>
            <a:picLocks noChangeAspect="1"/>
          </p:cNvPicPr>
          <p:nvPr/>
        </p:nvPicPr>
        <p:blipFill>
          <a:blip r:embed="rId4"/>
          <a:stretch>
            <a:fillRect/>
          </a:stretch>
        </p:blipFill>
        <p:spPr>
          <a:xfrm>
            <a:off x="7705649" y="6267298"/>
            <a:ext cx="114301" cy="114301"/>
          </a:xfrm>
          <a:prstGeom prst="rect">
            <a:avLst/>
          </a:prstGeom>
          <a:ln w="12700">
            <a:miter lim="400000"/>
          </a:ln>
        </p:spPr>
      </p:pic>
      <p:sp>
        <p:nvSpPr>
          <p:cNvPr id="388" name="Text 17"/>
          <p:cNvSpPr txBox="1"/>
          <p:nvPr/>
        </p:nvSpPr>
        <p:spPr>
          <a:xfrm>
            <a:off x="3804818" y="6250482"/>
            <a:ext cx="1648663"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900">
                <a:solidFill>
                  <a:srgbClr val="9CA3AF"/>
                </a:solidFill>
                <a:latin typeface="Noto Sans KR"/>
                <a:ea typeface="Noto Sans KR"/>
                <a:cs typeface="Noto Sans KR"/>
                <a:sym typeface="Noto Sans KR"/>
              </a:defRPr>
            </a:lvl1pPr>
          </a:lstStyle>
          <a:p>
            <a:r>
              <a:t>www.gwanhoongallery.com</a:t>
            </a:r>
          </a:p>
        </p:txBody>
      </p:sp>
      <p:sp>
        <p:nvSpPr>
          <p:cNvPr id="389" name="Text 18"/>
          <p:cNvSpPr txBox="1"/>
          <p:nvPr/>
        </p:nvSpPr>
        <p:spPr>
          <a:xfrm>
            <a:off x="6195059" y="6250482"/>
            <a:ext cx="952806"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900">
                <a:solidFill>
                  <a:srgbClr val="9CA3AF"/>
                </a:solidFill>
                <a:latin typeface="Noto Sans KR"/>
                <a:ea typeface="Noto Sans KR"/>
                <a:cs typeface="Noto Sans KR"/>
                <a:sym typeface="Noto Sans KR"/>
              </a:defRPr>
            </a:lvl1pPr>
          </a:lstStyle>
          <a:p>
            <a:r>
              <a:t>@sonmunil_art</a:t>
            </a:r>
          </a:p>
        </p:txBody>
      </p:sp>
      <p:sp>
        <p:nvSpPr>
          <p:cNvPr id="390" name="Text 19"/>
          <p:cNvSpPr txBox="1"/>
          <p:nvPr/>
        </p:nvSpPr>
        <p:spPr>
          <a:xfrm>
            <a:off x="7895843" y="6250482"/>
            <a:ext cx="771755" cy="139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900">
                <a:solidFill>
                  <a:srgbClr val="9CA3AF"/>
                </a:solidFill>
                <a:latin typeface="Noto Sans KR"/>
                <a:ea typeface="Noto Sans KR"/>
                <a:cs typeface="Noto Sans KR"/>
                <a:sym typeface="Noto Sans KR"/>
              </a:defRPr>
            </a:lvl1pPr>
          </a:lstStyle>
          <a:p>
            <a:r>
              <a:t>02-733-6469</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1332</Words>
  <Application>Microsoft Macintosh PowerPoint</Application>
  <PresentationFormat>와이드스크린</PresentationFormat>
  <Paragraphs>191</Paragraphs>
  <Slides>14</Slides>
  <Notes>0</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14</vt:i4>
      </vt:variant>
    </vt:vector>
  </HeadingPairs>
  <TitlesOfParts>
    <vt:vector size="23" baseType="lpstr">
      <vt:lpstr>Cormorant Garamond</vt:lpstr>
      <vt:lpstr>Noto Sans KR</vt:lpstr>
      <vt:lpstr>Noto Serif KR</vt:lpstr>
      <vt:lpstr>Arial</vt:lpstr>
      <vt:lpstr>Calibri</vt:lpstr>
      <vt:lpstr>Calibri Light</vt:lpstr>
      <vt:lpstr>Georgia</vt:lpstr>
      <vt:lpstr>Helvetica Neue</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cp:lastModifiedBy>Ken Rhee</cp:lastModifiedBy>
  <cp:revision>1</cp:revision>
  <dcterms:modified xsi:type="dcterms:W3CDTF">2026-01-08T08:29:58Z</dcterms:modified>
</cp:coreProperties>
</file>